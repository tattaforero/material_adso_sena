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621" r:id="rId2"/>
    <p:sldId id="538" r:id="rId3"/>
    <p:sldId id="593" r:id="rId4"/>
    <p:sldId id="623" r:id="rId5"/>
    <p:sldId id="629" r:id="rId6"/>
    <p:sldId id="630" r:id="rId7"/>
    <p:sldId id="631" r:id="rId8"/>
    <p:sldId id="632" r:id="rId9"/>
    <p:sldId id="628" r:id="rId10"/>
    <p:sldId id="622" r:id="rId11"/>
    <p:sldId id="619" r:id="rId12"/>
    <p:sldId id="633" r:id="rId13"/>
    <p:sldId id="624" r:id="rId14"/>
    <p:sldId id="626" r:id="rId15"/>
    <p:sldId id="627" r:id="rId16"/>
    <p:sldId id="634"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2" pos="3840" userDrawn="1">
          <p15:clr>
            <a:srgbClr val="A4A3A4"/>
          </p15:clr>
        </p15:guide>
        <p15:guide id="3" orient="horz" pos="1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00AD00"/>
    <a:srgbClr val="FF6C00"/>
    <a:srgbClr val="01AD01"/>
    <a:srgbClr val="00FFFF"/>
    <a:srgbClr val="1F3B50"/>
    <a:srgbClr val="FFF5EA"/>
    <a:srgbClr val="4D4D4C"/>
    <a:srgbClr val="343433"/>
    <a:srgbClr val="38A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61" autoAdjust="0"/>
    <p:restoredTop sz="97242"/>
  </p:normalViewPr>
  <p:slideViewPr>
    <p:cSldViewPr snapToGrid="0">
      <p:cViewPr varScale="1">
        <p:scale>
          <a:sx n="72" d="100"/>
          <a:sy n="72" d="100"/>
        </p:scale>
        <p:origin x="822" y="78"/>
      </p:cViewPr>
      <p:guideLst>
        <p:guide orient="horz" pos="595"/>
        <p:guide pos="3840"/>
        <p:guide orient="horz" pos="187"/>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26/03/2026</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26/03/2026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2541620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26/03/2026</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a:t>
            </a:fld>
            <a:endParaRPr lang="es-CO"/>
          </a:p>
        </p:txBody>
      </p:sp>
    </p:spTree>
    <p:extLst>
      <p:ext uri="{BB962C8B-B14F-4D97-AF65-F5344CB8AC3E}">
        <p14:creationId xmlns:p14="http://schemas.microsoft.com/office/powerpoint/2010/main" val="31456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26/03/2026</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A0B04F6-DA67-8975-7424-AAACEE860760}"/>
              </a:ext>
            </a:extLst>
          </p:cNvPr>
          <p:cNvSpPr/>
          <p:nvPr/>
        </p:nvSpPr>
        <p:spPr>
          <a:xfrm>
            <a:off x="0" y="0"/>
            <a:ext cx="12192000" cy="6858000"/>
          </a:xfrm>
          <a:prstGeom prst="rect">
            <a:avLst/>
          </a:prstGeom>
          <a:solidFill>
            <a:srgbClr val="00A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angle 3">
            <a:extLst>
              <a:ext uri="{FF2B5EF4-FFF2-40B4-BE49-F238E27FC236}">
                <a16:creationId xmlns:a16="http://schemas.microsoft.com/office/drawing/2014/main" id="{76FB3CE7-1EA9-6913-C780-749EDBCA9CF2}"/>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BB6F714C-A6B0-54AE-507A-D0700714D94B}"/>
              </a:ext>
            </a:extLst>
          </p:cNvPr>
          <p:cNvSpPr txBox="1">
            <a:spLocks/>
          </p:cNvSpPr>
          <p:nvPr/>
        </p:nvSpPr>
        <p:spPr>
          <a:xfrm>
            <a:off x="3378154" y="2740992"/>
            <a:ext cx="5939274"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kumimoji="0" lang="es-CO" sz="5400" b="1" u="none" strike="noStrike" kern="1200" cap="none" spc="0" normalizeH="0" baseline="0" noProof="0" dirty="0">
                <a:ln>
                  <a:noFill/>
                </a:ln>
                <a:solidFill>
                  <a:prstClr val="white"/>
                </a:solidFill>
                <a:effectLst/>
                <a:uLnTx/>
                <a:uFillTx/>
                <a:latin typeface="WORK SANS BOLD ROMAN" pitchFamily="2" charset="77"/>
              </a:rPr>
              <a:t>Pensamiento Algorítmico</a:t>
            </a:r>
            <a:endParaRPr lang="es-CO" sz="5400" b="1" dirty="0">
              <a:solidFill>
                <a:prstClr val="white"/>
              </a:solidFill>
              <a:latin typeface="WORK SANS BOLD ROMAN" pitchFamily="2" charset="77"/>
            </a:endParaRPr>
          </a:p>
        </p:txBody>
      </p:sp>
      <p:cxnSp>
        <p:nvCxnSpPr>
          <p:cNvPr id="9" name="Straight Connector 8">
            <a:extLst>
              <a:ext uri="{FF2B5EF4-FFF2-40B4-BE49-F238E27FC236}">
                <a16:creationId xmlns:a16="http://schemas.microsoft.com/office/drawing/2014/main" id="{E45C8F5A-C864-B874-5A57-087650BA4A6E}"/>
              </a:ext>
            </a:extLst>
          </p:cNvPr>
          <p:cNvCxnSpPr/>
          <p:nvPr/>
        </p:nvCxnSpPr>
        <p:spPr>
          <a:xfrm>
            <a:off x="3008244" y="1964635"/>
            <a:ext cx="0" cy="292873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480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3"/>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15D167A-EE62-EA02-E6F4-53710691F485}"/>
              </a:ext>
            </a:extLst>
          </p:cNvPr>
          <p:cNvSpPr txBox="1"/>
          <p:nvPr/>
        </p:nvSpPr>
        <p:spPr>
          <a:xfrm>
            <a:off x="963671" y="2171425"/>
            <a:ext cx="9757338" cy="2123658"/>
          </a:xfrm>
          <a:prstGeom prst="rect">
            <a:avLst/>
          </a:prstGeom>
          <a:noFill/>
        </p:spPr>
        <p:txBody>
          <a:bodyPr wrap="square" rtlCol="0">
            <a:spAutoFit/>
          </a:bodyPr>
          <a:lstStyle/>
          <a:p>
            <a:pPr marL="0" marR="0" lvl="0" indent="0" defTabSz="914400" rtl="0" eaLnBrk="1" fontAlgn="auto" latinLnBrk="0" hangingPunct="1">
              <a:spcBef>
                <a:spcPts val="0"/>
              </a:spcBef>
              <a:spcAft>
                <a:spcPts val="0"/>
              </a:spcAft>
              <a:buClrTx/>
              <a:buSzTx/>
              <a:buFontTx/>
              <a:buNone/>
              <a:tabLst/>
              <a:defRPr/>
            </a:pPr>
            <a:r>
              <a:rPr lang="es-ES" sz="4400" b="1" dirty="0">
                <a:solidFill>
                  <a:srgbClr val="404040"/>
                </a:solidFill>
                <a:latin typeface="Work Sans Bold Roman" pitchFamily="2" charset="77"/>
              </a:rPr>
              <a:t>GA3-220501093-AA1</a:t>
            </a:r>
            <a:r>
              <a:rPr lang="es-ES" sz="4400" dirty="0">
                <a:solidFill>
                  <a:srgbClr val="404040"/>
                </a:solidFill>
                <a:latin typeface="Work Sans Bold Roman" pitchFamily="2" charset="77"/>
              </a:rPr>
              <a:t> realizar actividades para el desarrollo del pensamiento algorítmico.  </a:t>
            </a:r>
          </a:p>
        </p:txBody>
      </p:sp>
      <p:sp>
        <p:nvSpPr>
          <p:cNvPr id="2" name="Rectangle 1">
            <a:extLst>
              <a:ext uri="{FF2B5EF4-FFF2-40B4-BE49-F238E27FC236}">
                <a16:creationId xmlns:a16="http://schemas.microsoft.com/office/drawing/2014/main" id="{9CDC7DF3-ED90-F4A5-DBB0-C2559B866658}"/>
              </a:ext>
            </a:extLst>
          </p:cNvPr>
          <p:cNvSpPr/>
          <p:nvPr/>
        </p:nvSpPr>
        <p:spPr>
          <a:xfrm>
            <a:off x="10085696" y="887104"/>
            <a:ext cx="1142633" cy="12843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Rectangle 2">
            <a:extLst>
              <a:ext uri="{FF2B5EF4-FFF2-40B4-BE49-F238E27FC236}">
                <a16:creationId xmlns:a16="http://schemas.microsoft.com/office/drawing/2014/main" id="{E1D84E4B-2A18-5A18-D61A-3477BD3DA2F3}"/>
              </a:ext>
            </a:extLst>
          </p:cNvPr>
          <p:cNvSpPr/>
          <p:nvPr/>
        </p:nvSpPr>
        <p:spPr>
          <a:xfrm>
            <a:off x="916596" y="4784843"/>
            <a:ext cx="4133076" cy="12843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409726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416690"/>
            <a:ext cx="9815809"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CO" sz="3600" b="1" u="none" strike="noStrike" kern="1200" cap="none" spc="0" normalizeH="0" baseline="0" noProof="0" dirty="0">
                <a:ln>
                  <a:noFill/>
                </a:ln>
                <a:solidFill>
                  <a:prstClr val="white"/>
                </a:solidFill>
                <a:effectLst/>
                <a:uLnTx/>
                <a:uFillTx/>
                <a:latin typeface="WORK SANS BOLD ROMAN" pitchFamily="2" charset="77"/>
              </a:rPr>
              <a:t>Evidencias</a:t>
            </a:r>
            <a:endParaRPr lang="es-CO" sz="3600" b="1" dirty="0">
              <a:solidFill>
                <a:prstClr val="white"/>
              </a:solidFill>
              <a:latin typeface="WORK SANS BOLD ROMAN" pitchFamily="2" charset="77"/>
            </a:endParaRPr>
          </a:p>
        </p:txBody>
      </p:sp>
      <p:sp>
        <p:nvSpPr>
          <p:cNvPr id="2" name="CuadroTexto 1">
            <a:extLst>
              <a:ext uri="{FF2B5EF4-FFF2-40B4-BE49-F238E27FC236}">
                <a16:creationId xmlns:a16="http://schemas.microsoft.com/office/drawing/2014/main" id="{B9A0E59E-A17E-42FD-5E0D-F30AE73B271F}"/>
              </a:ext>
            </a:extLst>
          </p:cNvPr>
          <p:cNvSpPr txBox="1"/>
          <p:nvPr/>
        </p:nvSpPr>
        <p:spPr>
          <a:xfrm>
            <a:off x="456236" y="2533249"/>
            <a:ext cx="11171657" cy="2267031"/>
          </a:xfrm>
          <a:prstGeom prst="rect">
            <a:avLst/>
          </a:prstGeom>
          <a:noFill/>
        </p:spPr>
        <p:txBody>
          <a:bodyPr wrap="square">
            <a:spAutoFit/>
          </a:bodyPr>
          <a:lstStyle/>
          <a:p>
            <a:pPr marL="342900" indent="-342900" algn="just">
              <a:lnSpc>
                <a:spcPct val="150000"/>
              </a:lnSpc>
              <a:buFont typeface="+mj-lt"/>
              <a:buAutoNum type="arabicPeriod"/>
            </a:pPr>
            <a:r>
              <a:rPr lang="es-ES" sz="1600" b="1" dirty="0">
                <a:latin typeface="Work Sans Light" pitchFamily="2" charset="77"/>
              </a:rPr>
              <a:t>Evidencia de conocimiento: GA3-220501093-AA1-EV01</a:t>
            </a:r>
            <a:r>
              <a:rPr lang="es-ES" sz="1600" dirty="0">
                <a:latin typeface="Work Sans Light" pitchFamily="2" charset="77"/>
              </a:rPr>
              <a:t> bases conceptuales de lógica proposicional.</a:t>
            </a:r>
          </a:p>
          <a:p>
            <a:pPr marL="342900" indent="-342900" algn="just">
              <a:lnSpc>
                <a:spcPct val="150000"/>
              </a:lnSpc>
              <a:buFont typeface="+mj-lt"/>
              <a:buAutoNum type="arabicPeriod"/>
            </a:pPr>
            <a:r>
              <a:rPr lang="es-CO" sz="1600" b="1" dirty="0">
                <a:latin typeface="Work Sans Light" pitchFamily="2" charset="77"/>
              </a:rPr>
              <a:t>Evidencia de producto: </a:t>
            </a:r>
            <a:r>
              <a:rPr lang="es-ES" sz="1600" b="1" dirty="0">
                <a:latin typeface="Work Sans Light" pitchFamily="2" charset="77"/>
              </a:rPr>
              <a:t>GA3-220501093-AA1-EV02 </a:t>
            </a:r>
            <a:r>
              <a:rPr lang="es-ES" sz="1600" dirty="0">
                <a:latin typeface="Work Sans Light" pitchFamily="2" charset="77"/>
              </a:rPr>
              <a:t>taller de resolución de problemas de algoritmos en pseudocódigo y diagramas de flujo.</a:t>
            </a:r>
          </a:p>
          <a:p>
            <a:pPr algn="just">
              <a:lnSpc>
                <a:spcPct val="150000"/>
              </a:lnSpc>
            </a:pPr>
            <a:endParaRPr lang="es-ES" sz="1600" dirty="0">
              <a:latin typeface="Work Sans Light" pitchFamily="2" charset="77"/>
            </a:endParaRPr>
          </a:p>
          <a:p>
            <a:pPr algn="just">
              <a:lnSpc>
                <a:spcPct val="150000"/>
              </a:lnSpc>
            </a:pPr>
            <a:r>
              <a:rPr lang="es-ES" sz="1600" b="1" dirty="0">
                <a:latin typeface="Work Sans Light" pitchFamily="2" charset="77"/>
              </a:rPr>
              <a:t>Material de formación: </a:t>
            </a:r>
            <a:r>
              <a:rPr lang="es-ES" sz="1600" dirty="0">
                <a:latin typeface="Work Sans Light" pitchFamily="2" charset="77"/>
              </a:rPr>
              <a:t>para el desarrollo de esta actividad es importante la lectura y análisis del material de formación</a:t>
            </a:r>
            <a:r>
              <a:rPr lang="es-ES" sz="1600" b="1" dirty="0">
                <a:latin typeface="Work Sans Light" pitchFamily="2" charset="77"/>
              </a:rPr>
              <a:t>: </a:t>
            </a:r>
            <a:r>
              <a:rPr lang="es-CO" sz="1600" b="1" dirty="0">
                <a:latin typeface="Work Sans Light" pitchFamily="2" charset="77"/>
              </a:rPr>
              <a:t>“Introducción a la algoritmia”</a:t>
            </a:r>
          </a:p>
        </p:txBody>
      </p:sp>
      <p:sp>
        <p:nvSpPr>
          <p:cNvPr id="4" name="Rectangle 3">
            <a:extLst>
              <a:ext uri="{FF2B5EF4-FFF2-40B4-BE49-F238E27FC236}">
                <a16:creationId xmlns:a16="http://schemas.microsoft.com/office/drawing/2014/main" id="{76FB3CE7-1EA9-6913-C780-749EDBCA9CF2}"/>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61853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A0B04F6-DA67-8975-7424-AAACEE860760}"/>
              </a:ext>
            </a:extLst>
          </p:cNvPr>
          <p:cNvSpPr/>
          <p:nvPr/>
        </p:nvSpPr>
        <p:spPr>
          <a:xfrm>
            <a:off x="0" y="0"/>
            <a:ext cx="12192000" cy="6858000"/>
          </a:xfrm>
          <a:prstGeom prst="rect">
            <a:avLst/>
          </a:prstGeom>
          <a:solidFill>
            <a:srgbClr val="00A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angle 3">
            <a:extLst>
              <a:ext uri="{FF2B5EF4-FFF2-40B4-BE49-F238E27FC236}">
                <a16:creationId xmlns:a16="http://schemas.microsoft.com/office/drawing/2014/main" id="{76FB3CE7-1EA9-6913-C780-749EDBCA9CF2}"/>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BB6F714C-A6B0-54AE-507A-D0700714D94B}"/>
              </a:ext>
            </a:extLst>
          </p:cNvPr>
          <p:cNvSpPr txBox="1">
            <a:spLocks/>
          </p:cNvSpPr>
          <p:nvPr/>
        </p:nvSpPr>
        <p:spPr>
          <a:xfrm>
            <a:off x="3378154" y="2709316"/>
            <a:ext cx="6852524"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s-ES" sz="5400" b="1" dirty="0">
                <a:solidFill>
                  <a:prstClr val="white"/>
                </a:solidFill>
                <a:latin typeface="WORK SANS BOLD ROMAN" pitchFamily="2" charset="77"/>
              </a:rPr>
              <a:t>Bases conceptuales de lógica proposicional.</a:t>
            </a:r>
            <a:endParaRPr lang="es-CO" sz="5400" b="1" dirty="0">
              <a:solidFill>
                <a:prstClr val="white"/>
              </a:solidFill>
              <a:latin typeface="WORK SANS BOLD ROMAN" pitchFamily="2" charset="77"/>
            </a:endParaRPr>
          </a:p>
        </p:txBody>
      </p:sp>
      <p:cxnSp>
        <p:nvCxnSpPr>
          <p:cNvPr id="9" name="Straight Connector 8">
            <a:extLst>
              <a:ext uri="{FF2B5EF4-FFF2-40B4-BE49-F238E27FC236}">
                <a16:creationId xmlns:a16="http://schemas.microsoft.com/office/drawing/2014/main" id="{E45C8F5A-C864-B874-5A57-087650BA4A6E}"/>
              </a:ext>
            </a:extLst>
          </p:cNvPr>
          <p:cNvCxnSpPr/>
          <p:nvPr/>
        </p:nvCxnSpPr>
        <p:spPr>
          <a:xfrm>
            <a:off x="3008244" y="1964635"/>
            <a:ext cx="0" cy="292873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2215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3"/>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332798"/>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Componentes de la lógica matemática (proposiciones)</a:t>
            </a:r>
          </a:p>
        </p:txBody>
      </p:sp>
      <p:sp>
        <p:nvSpPr>
          <p:cNvPr id="2" name="CuadroTexto 1">
            <a:extLst>
              <a:ext uri="{FF2B5EF4-FFF2-40B4-BE49-F238E27FC236}">
                <a16:creationId xmlns:a16="http://schemas.microsoft.com/office/drawing/2014/main" id="{05C91B34-A9AF-EE63-68C6-548DAAE8E80E}"/>
              </a:ext>
            </a:extLst>
          </p:cNvPr>
          <p:cNvSpPr txBox="1"/>
          <p:nvPr/>
        </p:nvSpPr>
        <p:spPr>
          <a:xfrm>
            <a:off x="1357384" y="1688668"/>
            <a:ext cx="3665190" cy="400110"/>
          </a:xfrm>
          <a:prstGeom prst="rect">
            <a:avLst/>
          </a:prstGeom>
          <a:noFill/>
        </p:spPr>
        <p:txBody>
          <a:bodyPr wrap="square">
            <a:spAutoFit/>
          </a:bodyPr>
          <a:lstStyle/>
          <a:p>
            <a:pPr algn="l" fontAlgn="base"/>
            <a:r>
              <a:rPr lang="es-ES" sz="2000" b="1" dirty="0">
                <a:latin typeface="Work Sans Light" pitchFamily="2" charset="77"/>
              </a:rPr>
              <a:t>Proposiciones</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CuadroTexto 1">
            <a:extLst>
              <a:ext uri="{FF2B5EF4-FFF2-40B4-BE49-F238E27FC236}">
                <a16:creationId xmlns:a16="http://schemas.microsoft.com/office/drawing/2014/main" id="{1C28D0A3-81BA-CA44-463D-EF4E6095D71D}"/>
              </a:ext>
            </a:extLst>
          </p:cNvPr>
          <p:cNvSpPr txBox="1"/>
          <p:nvPr/>
        </p:nvSpPr>
        <p:spPr>
          <a:xfrm>
            <a:off x="1357384" y="2258055"/>
            <a:ext cx="3665190" cy="830997"/>
          </a:xfrm>
          <a:prstGeom prst="rect">
            <a:avLst/>
          </a:prstGeom>
          <a:noFill/>
        </p:spPr>
        <p:txBody>
          <a:bodyPr wrap="square">
            <a:spAutoFit/>
          </a:bodyPr>
          <a:lstStyle/>
          <a:p>
            <a:pPr algn="l" fontAlgn="base"/>
            <a:r>
              <a:rPr lang="es-ES" sz="1600" dirty="0">
                <a:latin typeface="Work Sans Light" pitchFamily="2" charset="77"/>
              </a:rPr>
              <a:t>Una proposición o enunciado es una oración que puede ser falsa o verdadera, pero no ambas a la vez. </a:t>
            </a:r>
          </a:p>
        </p:txBody>
      </p:sp>
      <p:sp>
        <p:nvSpPr>
          <p:cNvPr id="6" name="CuadroTexto 1">
            <a:extLst>
              <a:ext uri="{FF2B5EF4-FFF2-40B4-BE49-F238E27FC236}">
                <a16:creationId xmlns:a16="http://schemas.microsoft.com/office/drawing/2014/main" id="{9B7B0FA3-AFBF-EB0C-0F73-633D3C6CA0A1}"/>
              </a:ext>
            </a:extLst>
          </p:cNvPr>
          <p:cNvSpPr txBox="1"/>
          <p:nvPr/>
        </p:nvSpPr>
        <p:spPr>
          <a:xfrm>
            <a:off x="1357384" y="3319885"/>
            <a:ext cx="3665190" cy="2554545"/>
          </a:xfrm>
          <a:prstGeom prst="rect">
            <a:avLst/>
          </a:prstGeom>
          <a:noFill/>
        </p:spPr>
        <p:txBody>
          <a:bodyPr wrap="square">
            <a:spAutoFit/>
          </a:bodyPr>
          <a:lstStyle/>
          <a:p>
            <a:pPr algn="l" fontAlgn="base"/>
            <a:r>
              <a:rPr lang="es-ES" sz="1600" dirty="0">
                <a:latin typeface="Work Sans Light" pitchFamily="2" charset="77"/>
              </a:rPr>
              <a:t>Las proposiciones pueden ser simples o compuestas. </a:t>
            </a:r>
          </a:p>
          <a:p>
            <a:pPr algn="l" fontAlgn="base"/>
            <a:endParaRPr lang="es-ES" sz="1600" dirty="0">
              <a:latin typeface="Work Sans Light" pitchFamily="2" charset="77"/>
            </a:endParaRPr>
          </a:p>
          <a:p>
            <a:pPr algn="l" fontAlgn="base"/>
            <a:r>
              <a:rPr lang="es-ES" sz="1600" b="1" dirty="0">
                <a:latin typeface="Work Sans Light" pitchFamily="2" charset="77"/>
              </a:rPr>
              <a:t>Las simples </a:t>
            </a:r>
            <a:r>
              <a:rPr lang="es-ES" sz="1600" dirty="0">
                <a:latin typeface="Work Sans Light" pitchFamily="2" charset="77"/>
              </a:rPr>
              <a:t>están formadas por una sola proposición</a:t>
            </a:r>
          </a:p>
          <a:p>
            <a:pPr algn="l" fontAlgn="base"/>
            <a:endParaRPr lang="es-ES" sz="1600" dirty="0">
              <a:latin typeface="Work Sans Light" pitchFamily="2" charset="77"/>
            </a:endParaRPr>
          </a:p>
          <a:p>
            <a:pPr algn="l" fontAlgn="base"/>
            <a:r>
              <a:rPr lang="es-ES" sz="1600" b="1" dirty="0">
                <a:latin typeface="Work Sans Light" pitchFamily="2" charset="77"/>
              </a:rPr>
              <a:t>las proposiciones compuestas </a:t>
            </a:r>
            <a:r>
              <a:rPr lang="es-ES" sz="1600" dirty="0">
                <a:latin typeface="Work Sans Light" pitchFamily="2" charset="77"/>
              </a:rPr>
              <a:t>están conformadas por dos o más proposiciones unidas por un conector. </a:t>
            </a:r>
          </a:p>
        </p:txBody>
      </p:sp>
      <p:sp>
        <p:nvSpPr>
          <p:cNvPr id="7" name="CuadroTexto 1">
            <a:extLst>
              <a:ext uri="{FF2B5EF4-FFF2-40B4-BE49-F238E27FC236}">
                <a16:creationId xmlns:a16="http://schemas.microsoft.com/office/drawing/2014/main" id="{A0B237C8-158A-583D-BF96-1520DA46E629}"/>
              </a:ext>
            </a:extLst>
          </p:cNvPr>
          <p:cNvSpPr txBox="1"/>
          <p:nvPr/>
        </p:nvSpPr>
        <p:spPr>
          <a:xfrm>
            <a:off x="6752948" y="1688668"/>
            <a:ext cx="3665190" cy="400110"/>
          </a:xfrm>
          <a:prstGeom prst="rect">
            <a:avLst/>
          </a:prstGeom>
          <a:noFill/>
        </p:spPr>
        <p:txBody>
          <a:bodyPr wrap="square">
            <a:spAutoFit/>
          </a:bodyPr>
          <a:lstStyle/>
          <a:p>
            <a:pPr algn="l" fontAlgn="base"/>
            <a:r>
              <a:rPr lang="es-ES" sz="2000" b="1" dirty="0">
                <a:latin typeface="Work Sans Light" pitchFamily="2" charset="77"/>
              </a:rPr>
              <a:t>Ejemplos</a:t>
            </a:r>
          </a:p>
        </p:txBody>
      </p:sp>
      <p:sp>
        <p:nvSpPr>
          <p:cNvPr id="9" name="TextBox 8">
            <a:extLst>
              <a:ext uri="{FF2B5EF4-FFF2-40B4-BE49-F238E27FC236}">
                <a16:creationId xmlns:a16="http://schemas.microsoft.com/office/drawing/2014/main" id="{FBA16C6A-BF3B-5979-5B34-6ADC01DFD947}"/>
              </a:ext>
            </a:extLst>
          </p:cNvPr>
          <p:cNvSpPr txBox="1"/>
          <p:nvPr/>
        </p:nvSpPr>
        <p:spPr>
          <a:xfrm>
            <a:off x="6752948" y="2479463"/>
            <a:ext cx="4081668" cy="400110"/>
          </a:xfrm>
          <a:prstGeom prst="rect">
            <a:avLst/>
          </a:prstGeom>
          <a:noFill/>
        </p:spPr>
        <p:txBody>
          <a:bodyPr wrap="square">
            <a:spAutoFit/>
          </a:bodyPr>
          <a:lstStyle/>
          <a:p>
            <a:pPr algn="l" fontAlgn="base"/>
            <a:r>
              <a:rPr lang="es-ES" sz="2000" b="1" dirty="0">
                <a:latin typeface="Work Sans Light" pitchFamily="2" charset="77"/>
              </a:rPr>
              <a:t>p: </a:t>
            </a:r>
            <a:r>
              <a:rPr lang="es-ES" sz="2000" dirty="0">
                <a:latin typeface="Work Sans Light" pitchFamily="2" charset="77"/>
              </a:rPr>
              <a:t>la tierra es plana.</a:t>
            </a:r>
          </a:p>
        </p:txBody>
      </p:sp>
      <p:pic>
        <p:nvPicPr>
          <p:cNvPr id="14" name="Graphic 13" descr="Checkmark">
            <a:extLst>
              <a:ext uri="{FF2B5EF4-FFF2-40B4-BE49-F238E27FC236}">
                <a16:creationId xmlns:a16="http://schemas.microsoft.com/office/drawing/2014/main" id="{6B207137-CE5F-040F-51CB-5AACBAE6D2B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54209" y="2222318"/>
            <a:ext cx="914400" cy="914400"/>
          </a:xfrm>
          <a:prstGeom prst="rect">
            <a:avLst/>
          </a:prstGeom>
        </p:spPr>
      </p:pic>
      <p:sp>
        <p:nvSpPr>
          <p:cNvPr id="12" name="TextBox 11">
            <a:extLst>
              <a:ext uri="{FF2B5EF4-FFF2-40B4-BE49-F238E27FC236}">
                <a16:creationId xmlns:a16="http://schemas.microsoft.com/office/drawing/2014/main" id="{9DBC6CF8-36EE-0A7D-9A46-99CB84AC5E6A}"/>
              </a:ext>
            </a:extLst>
          </p:cNvPr>
          <p:cNvSpPr txBox="1"/>
          <p:nvPr/>
        </p:nvSpPr>
        <p:spPr>
          <a:xfrm>
            <a:off x="6752948" y="3375939"/>
            <a:ext cx="4081668" cy="400110"/>
          </a:xfrm>
          <a:prstGeom prst="rect">
            <a:avLst/>
          </a:prstGeom>
          <a:noFill/>
        </p:spPr>
        <p:txBody>
          <a:bodyPr wrap="square">
            <a:spAutoFit/>
          </a:bodyPr>
          <a:lstStyle/>
          <a:p>
            <a:pPr algn="l" fontAlgn="base"/>
            <a:r>
              <a:rPr lang="es-ES" sz="2000" b="1" dirty="0">
                <a:latin typeface="Work Sans Light" pitchFamily="2" charset="77"/>
              </a:rPr>
              <a:t>q: </a:t>
            </a:r>
            <a:r>
              <a:rPr lang="es-ES" sz="2000" dirty="0">
                <a:latin typeface="Work Sans Light" pitchFamily="2" charset="77"/>
              </a:rPr>
              <a:t>-17 + 38 = 21</a:t>
            </a:r>
          </a:p>
        </p:txBody>
      </p:sp>
      <p:pic>
        <p:nvPicPr>
          <p:cNvPr id="15" name="Graphic 14" descr="Checkmark">
            <a:extLst>
              <a:ext uri="{FF2B5EF4-FFF2-40B4-BE49-F238E27FC236}">
                <a16:creationId xmlns:a16="http://schemas.microsoft.com/office/drawing/2014/main" id="{BE08FD03-5D01-2B95-AA8F-A5FEAF3135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54209" y="3118794"/>
            <a:ext cx="914400" cy="914400"/>
          </a:xfrm>
          <a:prstGeom prst="rect">
            <a:avLst/>
          </a:prstGeom>
        </p:spPr>
      </p:pic>
      <p:sp>
        <p:nvSpPr>
          <p:cNvPr id="10" name="TextBox 9">
            <a:extLst>
              <a:ext uri="{FF2B5EF4-FFF2-40B4-BE49-F238E27FC236}">
                <a16:creationId xmlns:a16="http://schemas.microsoft.com/office/drawing/2014/main" id="{DEFC2E9E-F302-5CF8-6C29-F07A1ED46C1A}"/>
              </a:ext>
            </a:extLst>
          </p:cNvPr>
          <p:cNvSpPr txBox="1"/>
          <p:nvPr/>
        </p:nvSpPr>
        <p:spPr>
          <a:xfrm>
            <a:off x="6752948" y="4272415"/>
            <a:ext cx="4081668" cy="400110"/>
          </a:xfrm>
          <a:prstGeom prst="rect">
            <a:avLst/>
          </a:prstGeom>
          <a:noFill/>
        </p:spPr>
        <p:txBody>
          <a:bodyPr wrap="square">
            <a:spAutoFit/>
          </a:bodyPr>
          <a:lstStyle/>
          <a:p>
            <a:pPr algn="l" fontAlgn="base"/>
            <a:r>
              <a:rPr lang="es-ES" sz="2000" b="1" dirty="0">
                <a:latin typeface="Work Sans Light" pitchFamily="2" charset="77"/>
              </a:rPr>
              <a:t>r: </a:t>
            </a:r>
            <a:r>
              <a:rPr lang="es-ES" sz="2000" dirty="0">
                <a:latin typeface="Work Sans Light" pitchFamily="2" charset="77"/>
              </a:rPr>
              <a:t>hola ¿cómo estás?</a:t>
            </a:r>
          </a:p>
        </p:txBody>
      </p:sp>
      <p:pic>
        <p:nvPicPr>
          <p:cNvPr id="17" name="Graphic 16" descr="Close">
            <a:extLst>
              <a:ext uri="{FF2B5EF4-FFF2-40B4-BE49-F238E27FC236}">
                <a16:creationId xmlns:a16="http://schemas.microsoft.com/office/drawing/2014/main" id="{4C87717C-346B-6BA7-5345-15E5B07EBE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54209" y="4015270"/>
            <a:ext cx="914400" cy="914400"/>
          </a:xfrm>
          <a:prstGeom prst="rect">
            <a:avLst/>
          </a:prstGeom>
        </p:spPr>
      </p:pic>
      <p:sp>
        <p:nvSpPr>
          <p:cNvPr id="11" name="TextBox 10">
            <a:extLst>
              <a:ext uri="{FF2B5EF4-FFF2-40B4-BE49-F238E27FC236}">
                <a16:creationId xmlns:a16="http://schemas.microsoft.com/office/drawing/2014/main" id="{8B9A8F50-8B05-100F-E27E-E91888526469}"/>
              </a:ext>
            </a:extLst>
          </p:cNvPr>
          <p:cNvSpPr txBox="1"/>
          <p:nvPr/>
        </p:nvSpPr>
        <p:spPr>
          <a:xfrm>
            <a:off x="6752948" y="5168892"/>
            <a:ext cx="4081668" cy="400110"/>
          </a:xfrm>
          <a:prstGeom prst="rect">
            <a:avLst/>
          </a:prstGeom>
          <a:noFill/>
        </p:spPr>
        <p:txBody>
          <a:bodyPr wrap="square">
            <a:spAutoFit/>
          </a:bodyPr>
          <a:lstStyle/>
          <a:p>
            <a:pPr algn="l" fontAlgn="base"/>
            <a:r>
              <a:rPr lang="es-ES" sz="2000" b="1" dirty="0">
                <a:latin typeface="Work Sans Light" pitchFamily="2" charset="77"/>
              </a:rPr>
              <a:t>s: </a:t>
            </a:r>
            <a:r>
              <a:rPr lang="es-ES" sz="2000" dirty="0">
                <a:latin typeface="Work Sans Light" pitchFamily="2" charset="77"/>
              </a:rPr>
              <a:t>lava el carro por favor.</a:t>
            </a:r>
          </a:p>
        </p:txBody>
      </p:sp>
      <p:pic>
        <p:nvPicPr>
          <p:cNvPr id="18" name="Graphic 17" descr="Close">
            <a:extLst>
              <a:ext uri="{FF2B5EF4-FFF2-40B4-BE49-F238E27FC236}">
                <a16:creationId xmlns:a16="http://schemas.microsoft.com/office/drawing/2014/main" id="{B3382FF4-6393-C20D-62D0-2D7A39D80F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81196" y="4911747"/>
            <a:ext cx="914400" cy="914400"/>
          </a:xfrm>
          <a:prstGeom prst="rect">
            <a:avLst/>
          </a:prstGeom>
        </p:spPr>
      </p:pic>
    </p:spTree>
    <p:extLst>
      <p:ext uri="{BB962C8B-B14F-4D97-AF65-F5344CB8AC3E}">
        <p14:creationId xmlns:p14="http://schemas.microsoft.com/office/powerpoint/2010/main" val="290823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arn(inVertic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9" grpId="0"/>
      <p:bldP spid="12"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332798"/>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Componentes de la lógica matemática (conectores lógicos: AND, OR, NOT)</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23" name="Group 22">
            <a:extLst>
              <a:ext uri="{FF2B5EF4-FFF2-40B4-BE49-F238E27FC236}">
                <a16:creationId xmlns:a16="http://schemas.microsoft.com/office/drawing/2014/main" id="{12944DAA-445C-AC9A-54BB-1E17AEE1F469}"/>
              </a:ext>
            </a:extLst>
          </p:cNvPr>
          <p:cNvGrpSpPr/>
          <p:nvPr/>
        </p:nvGrpSpPr>
        <p:grpSpPr>
          <a:xfrm>
            <a:off x="456236" y="1487363"/>
            <a:ext cx="4738615" cy="1453764"/>
            <a:chOff x="456236" y="1487363"/>
            <a:chExt cx="4738615" cy="1453764"/>
          </a:xfrm>
        </p:grpSpPr>
        <p:sp>
          <p:nvSpPr>
            <p:cNvPr id="2" name="CuadroTexto 1">
              <a:extLst>
                <a:ext uri="{FF2B5EF4-FFF2-40B4-BE49-F238E27FC236}">
                  <a16:creationId xmlns:a16="http://schemas.microsoft.com/office/drawing/2014/main" id="{05C91B34-A9AF-EE63-68C6-548DAAE8E80E}"/>
                </a:ext>
              </a:extLst>
            </p:cNvPr>
            <p:cNvSpPr txBox="1"/>
            <p:nvPr/>
          </p:nvSpPr>
          <p:spPr>
            <a:xfrm>
              <a:off x="456236" y="1487363"/>
              <a:ext cx="3665190" cy="369332"/>
            </a:xfrm>
            <a:prstGeom prst="rect">
              <a:avLst/>
            </a:prstGeom>
            <a:noFill/>
          </p:spPr>
          <p:txBody>
            <a:bodyPr wrap="square">
              <a:spAutoFit/>
            </a:bodyPr>
            <a:lstStyle/>
            <a:p>
              <a:pPr fontAlgn="base"/>
              <a:r>
                <a:rPr lang="es-ES" b="1" dirty="0">
                  <a:latin typeface="Work Sans Light" pitchFamily="2" charset="77"/>
                </a:rPr>
                <a:t>Operador AND (y) conjunción</a:t>
              </a:r>
            </a:p>
          </p:txBody>
        </p:sp>
        <p:sp>
          <p:nvSpPr>
            <p:cNvPr id="6" name="CuadroTexto 1">
              <a:extLst>
                <a:ext uri="{FF2B5EF4-FFF2-40B4-BE49-F238E27FC236}">
                  <a16:creationId xmlns:a16="http://schemas.microsoft.com/office/drawing/2014/main" id="{9B7B0FA3-AFBF-EB0C-0F73-633D3C6CA0A1}"/>
                </a:ext>
              </a:extLst>
            </p:cNvPr>
            <p:cNvSpPr txBox="1"/>
            <p:nvPr/>
          </p:nvSpPr>
          <p:spPr>
            <a:xfrm>
              <a:off x="456236" y="1863909"/>
              <a:ext cx="4738615" cy="1077218"/>
            </a:xfrm>
            <a:prstGeom prst="rect">
              <a:avLst/>
            </a:prstGeom>
            <a:noFill/>
          </p:spPr>
          <p:txBody>
            <a:bodyPr wrap="square">
              <a:spAutoFit/>
            </a:bodyPr>
            <a:lstStyle/>
            <a:p>
              <a:pPr fontAlgn="base"/>
              <a:r>
                <a:rPr lang="es-ES" sz="1600" dirty="0">
                  <a:latin typeface="Work Sans Light" pitchFamily="2" charset="77"/>
                </a:rPr>
                <a:t>Conecta dos proposiciones que se deben unir para que se pueda obtener un resultado verdadero, esta se representa por el siguiente símbolo ∧.</a:t>
              </a:r>
            </a:p>
          </p:txBody>
        </p:sp>
      </p:grpSp>
      <p:sp>
        <p:nvSpPr>
          <p:cNvPr id="9" name="TextBox 8">
            <a:extLst>
              <a:ext uri="{FF2B5EF4-FFF2-40B4-BE49-F238E27FC236}">
                <a16:creationId xmlns:a16="http://schemas.microsoft.com/office/drawing/2014/main" id="{FBA16C6A-BF3B-5979-5B34-6ADC01DFD947}"/>
              </a:ext>
            </a:extLst>
          </p:cNvPr>
          <p:cNvSpPr txBox="1"/>
          <p:nvPr/>
        </p:nvSpPr>
        <p:spPr>
          <a:xfrm>
            <a:off x="6752946" y="2068834"/>
            <a:ext cx="4723435" cy="338554"/>
          </a:xfrm>
          <a:prstGeom prst="rect">
            <a:avLst/>
          </a:prstGeom>
          <a:noFill/>
        </p:spPr>
        <p:txBody>
          <a:bodyPr wrap="square">
            <a:spAutoFit/>
          </a:bodyPr>
          <a:lstStyle/>
          <a:p>
            <a:pPr fontAlgn="base"/>
            <a:r>
              <a:rPr lang="es-ES" sz="1600" dirty="0">
                <a:latin typeface="Work Sans Light" pitchFamily="2" charset="77"/>
              </a:rPr>
              <a:t>El número 9 es mayor que 7 </a:t>
            </a:r>
            <a:r>
              <a:rPr lang="es-ES" sz="1600" b="1" dirty="0">
                <a:latin typeface="Work Sans Light" pitchFamily="2" charset="77"/>
              </a:rPr>
              <a:t>y</a:t>
            </a:r>
            <a:r>
              <a:rPr lang="es-ES" sz="1600" dirty="0">
                <a:latin typeface="Work Sans Light" pitchFamily="2" charset="77"/>
              </a:rPr>
              <a:t> menor que 12.</a:t>
            </a:r>
          </a:p>
        </p:txBody>
      </p:sp>
      <p:sp>
        <p:nvSpPr>
          <p:cNvPr id="12" name="TextBox 11">
            <a:extLst>
              <a:ext uri="{FF2B5EF4-FFF2-40B4-BE49-F238E27FC236}">
                <a16:creationId xmlns:a16="http://schemas.microsoft.com/office/drawing/2014/main" id="{9DBC6CF8-36EE-0A7D-9A46-99CB84AC5E6A}"/>
              </a:ext>
            </a:extLst>
          </p:cNvPr>
          <p:cNvSpPr txBox="1"/>
          <p:nvPr/>
        </p:nvSpPr>
        <p:spPr>
          <a:xfrm>
            <a:off x="6752946" y="3761976"/>
            <a:ext cx="4272861" cy="338554"/>
          </a:xfrm>
          <a:prstGeom prst="rect">
            <a:avLst/>
          </a:prstGeom>
          <a:noFill/>
        </p:spPr>
        <p:txBody>
          <a:bodyPr wrap="square">
            <a:spAutoFit/>
          </a:bodyPr>
          <a:lstStyle/>
          <a:p>
            <a:pPr fontAlgn="base"/>
            <a:r>
              <a:rPr lang="es-ES" sz="1600" dirty="0">
                <a:latin typeface="Work Sans Light" pitchFamily="2" charset="77"/>
              </a:rPr>
              <a:t>Puedo ir a Bogotá en avión </a:t>
            </a:r>
            <a:r>
              <a:rPr lang="es-ES" sz="1600" b="1" dirty="0">
                <a:latin typeface="Work Sans Light" pitchFamily="2" charset="77"/>
              </a:rPr>
              <a:t>o</a:t>
            </a:r>
            <a:r>
              <a:rPr lang="es-ES" sz="1600" dirty="0">
                <a:latin typeface="Work Sans Light" pitchFamily="2" charset="77"/>
              </a:rPr>
              <a:t> en autobús.</a:t>
            </a:r>
          </a:p>
        </p:txBody>
      </p:sp>
      <p:sp>
        <p:nvSpPr>
          <p:cNvPr id="11" name="TextBox 10">
            <a:extLst>
              <a:ext uri="{FF2B5EF4-FFF2-40B4-BE49-F238E27FC236}">
                <a16:creationId xmlns:a16="http://schemas.microsoft.com/office/drawing/2014/main" id="{8B9A8F50-8B05-100F-E27E-E91888526469}"/>
              </a:ext>
            </a:extLst>
          </p:cNvPr>
          <p:cNvSpPr txBox="1"/>
          <p:nvPr/>
        </p:nvSpPr>
        <p:spPr>
          <a:xfrm>
            <a:off x="6752946" y="5569002"/>
            <a:ext cx="4397275" cy="584775"/>
          </a:xfrm>
          <a:prstGeom prst="rect">
            <a:avLst/>
          </a:prstGeom>
          <a:noFill/>
        </p:spPr>
        <p:txBody>
          <a:bodyPr wrap="square">
            <a:spAutoFit/>
          </a:bodyPr>
          <a:lstStyle/>
          <a:p>
            <a:pPr fontAlgn="base"/>
            <a:r>
              <a:rPr lang="es-ES" sz="1600" b="1" dirty="0">
                <a:latin typeface="Work Sans Light" pitchFamily="2" charset="77"/>
              </a:rPr>
              <a:t>No</a:t>
            </a:r>
            <a:r>
              <a:rPr lang="es-ES" sz="1600" dirty="0">
                <a:latin typeface="Work Sans Light" pitchFamily="2" charset="77"/>
              </a:rPr>
              <a:t> es cierto que Gabriel García Márquez escribió la Ilíada.</a:t>
            </a:r>
          </a:p>
        </p:txBody>
      </p:sp>
      <p:sp>
        <p:nvSpPr>
          <p:cNvPr id="8" name="Arrow: Right 7">
            <a:extLst>
              <a:ext uri="{FF2B5EF4-FFF2-40B4-BE49-F238E27FC236}">
                <a16:creationId xmlns:a16="http://schemas.microsoft.com/office/drawing/2014/main" id="{38B6D8DF-880A-E937-3E4B-CAA0F6AD7194}"/>
              </a:ext>
            </a:extLst>
          </p:cNvPr>
          <p:cNvSpPr/>
          <p:nvPr/>
        </p:nvSpPr>
        <p:spPr>
          <a:xfrm>
            <a:off x="5439053" y="2126456"/>
            <a:ext cx="874645" cy="33855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s-CO"/>
          </a:p>
        </p:txBody>
      </p:sp>
      <p:grpSp>
        <p:nvGrpSpPr>
          <p:cNvPr id="24" name="Group 23">
            <a:extLst>
              <a:ext uri="{FF2B5EF4-FFF2-40B4-BE49-F238E27FC236}">
                <a16:creationId xmlns:a16="http://schemas.microsoft.com/office/drawing/2014/main" id="{E31490C8-E6D3-3116-DB19-609A49705567}"/>
              </a:ext>
            </a:extLst>
          </p:cNvPr>
          <p:cNvGrpSpPr/>
          <p:nvPr/>
        </p:nvGrpSpPr>
        <p:grpSpPr>
          <a:xfrm>
            <a:off x="456236" y="3154206"/>
            <a:ext cx="4738615" cy="1730763"/>
            <a:chOff x="456236" y="3154206"/>
            <a:chExt cx="4738615" cy="1730763"/>
          </a:xfrm>
        </p:grpSpPr>
        <p:sp>
          <p:nvSpPr>
            <p:cNvPr id="13" name="CuadroTexto 1">
              <a:extLst>
                <a:ext uri="{FF2B5EF4-FFF2-40B4-BE49-F238E27FC236}">
                  <a16:creationId xmlns:a16="http://schemas.microsoft.com/office/drawing/2014/main" id="{B237BCD7-A87D-1FBD-E07D-871F5A8B4800}"/>
                </a:ext>
              </a:extLst>
            </p:cNvPr>
            <p:cNvSpPr txBox="1"/>
            <p:nvPr/>
          </p:nvSpPr>
          <p:spPr>
            <a:xfrm>
              <a:off x="456236" y="3154206"/>
              <a:ext cx="3665190" cy="369332"/>
            </a:xfrm>
            <a:prstGeom prst="rect">
              <a:avLst/>
            </a:prstGeom>
            <a:noFill/>
          </p:spPr>
          <p:txBody>
            <a:bodyPr wrap="square">
              <a:spAutoFit/>
            </a:bodyPr>
            <a:lstStyle/>
            <a:p>
              <a:pPr fontAlgn="base"/>
              <a:r>
                <a:rPr lang="es-ES" b="1" dirty="0">
                  <a:latin typeface="Work Sans Light" pitchFamily="2" charset="77"/>
                </a:rPr>
                <a:t>Operador OR </a:t>
              </a:r>
              <a:r>
                <a:rPr lang="es-CO" b="1" dirty="0">
                  <a:latin typeface="Work Sans Light" pitchFamily="2" charset="77"/>
                </a:rPr>
                <a:t>(o) disyunción</a:t>
              </a:r>
              <a:endParaRPr lang="es-ES" b="1" dirty="0">
                <a:latin typeface="Work Sans Light" pitchFamily="2" charset="77"/>
              </a:endParaRPr>
            </a:p>
          </p:txBody>
        </p:sp>
        <p:sp>
          <p:nvSpPr>
            <p:cNvPr id="16" name="CuadroTexto 1">
              <a:extLst>
                <a:ext uri="{FF2B5EF4-FFF2-40B4-BE49-F238E27FC236}">
                  <a16:creationId xmlns:a16="http://schemas.microsoft.com/office/drawing/2014/main" id="{BA1967E9-591E-962C-1ACC-1EE1E7990AFE}"/>
                </a:ext>
              </a:extLst>
            </p:cNvPr>
            <p:cNvSpPr txBox="1"/>
            <p:nvPr/>
          </p:nvSpPr>
          <p:spPr>
            <a:xfrm>
              <a:off x="456236" y="3561530"/>
              <a:ext cx="4738615" cy="1323439"/>
            </a:xfrm>
            <a:prstGeom prst="rect">
              <a:avLst/>
            </a:prstGeom>
            <a:noFill/>
          </p:spPr>
          <p:txBody>
            <a:bodyPr wrap="square">
              <a:spAutoFit/>
            </a:bodyPr>
            <a:lstStyle/>
            <a:p>
              <a:pPr fontAlgn="base"/>
              <a:r>
                <a:rPr lang="es-ES" sz="1600" dirty="0">
                  <a:latin typeface="Work Sans Light" pitchFamily="2" charset="77"/>
                </a:rPr>
                <a:t>Conecta dos proposiciones y se obtiene una proposición compuesta verdadera cuando por lo menos unas de las proposiciones son verdaderas, esta se representa por el siguiente símbolo </a:t>
              </a:r>
              <a:r>
                <a:rPr lang="es-ES" sz="1600" b="1" dirty="0">
                  <a:latin typeface="Work Sans Light" pitchFamily="2" charset="77"/>
                </a:rPr>
                <a:t>v</a:t>
              </a:r>
              <a:r>
                <a:rPr lang="es-ES" sz="1600" dirty="0">
                  <a:latin typeface="Work Sans Light" pitchFamily="2" charset="77"/>
                </a:rPr>
                <a:t>.</a:t>
              </a:r>
            </a:p>
          </p:txBody>
        </p:sp>
      </p:grpSp>
      <p:sp>
        <p:nvSpPr>
          <p:cNvPr id="19" name="Arrow: Right 18">
            <a:extLst>
              <a:ext uri="{FF2B5EF4-FFF2-40B4-BE49-F238E27FC236}">
                <a16:creationId xmlns:a16="http://schemas.microsoft.com/office/drawing/2014/main" id="{17B67785-272B-F526-EDD8-6EA8C10D90F0}"/>
              </a:ext>
            </a:extLst>
          </p:cNvPr>
          <p:cNvSpPr/>
          <p:nvPr/>
        </p:nvSpPr>
        <p:spPr>
          <a:xfrm>
            <a:off x="5439053" y="3776049"/>
            <a:ext cx="874645" cy="33855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s-CO"/>
          </a:p>
        </p:txBody>
      </p:sp>
      <p:grpSp>
        <p:nvGrpSpPr>
          <p:cNvPr id="25" name="Group 24">
            <a:extLst>
              <a:ext uri="{FF2B5EF4-FFF2-40B4-BE49-F238E27FC236}">
                <a16:creationId xmlns:a16="http://schemas.microsoft.com/office/drawing/2014/main" id="{354C6C54-B658-5162-EEDF-65FFB750DBA5}"/>
              </a:ext>
            </a:extLst>
          </p:cNvPr>
          <p:cNvGrpSpPr/>
          <p:nvPr/>
        </p:nvGrpSpPr>
        <p:grpSpPr>
          <a:xfrm>
            <a:off x="456236" y="5062094"/>
            <a:ext cx="4638260" cy="1416539"/>
            <a:chOff x="456236" y="5062094"/>
            <a:chExt cx="4638260" cy="1416539"/>
          </a:xfrm>
        </p:grpSpPr>
        <p:sp>
          <p:nvSpPr>
            <p:cNvPr id="20" name="CuadroTexto 1">
              <a:extLst>
                <a:ext uri="{FF2B5EF4-FFF2-40B4-BE49-F238E27FC236}">
                  <a16:creationId xmlns:a16="http://schemas.microsoft.com/office/drawing/2014/main" id="{188D935A-7275-9C25-F5CE-10A4024ADC2A}"/>
                </a:ext>
              </a:extLst>
            </p:cNvPr>
            <p:cNvSpPr txBox="1"/>
            <p:nvPr/>
          </p:nvSpPr>
          <p:spPr>
            <a:xfrm>
              <a:off x="456236" y="5062094"/>
              <a:ext cx="3665190" cy="369332"/>
            </a:xfrm>
            <a:prstGeom prst="rect">
              <a:avLst/>
            </a:prstGeom>
            <a:noFill/>
          </p:spPr>
          <p:txBody>
            <a:bodyPr wrap="square">
              <a:spAutoFit/>
            </a:bodyPr>
            <a:lstStyle/>
            <a:p>
              <a:pPr fontAlgn="base"/>
              <a:r>
                <a:rPr lang="es-ES" b="1" dirty="0">
                  <a:latin typeface="Work Sans Light" pitchFamily="2" charset="77"/>
                </a:rPr>
                <a:t>Operador </a:t>
              </a:r>
              <a:r>
                <a:rPr lang="es-CO" b="1" dirty="0">
                  <a:latin typeface="Work Sans Light" pitchFamily="2" charset="77"/>
                </a:rPr>
                <a:t>NOT (no) negación</a:t>
              </a:r>
              <a:endParaRPr lang="es-ES" b="1" dirty="0">
                <a:latin typeface="Work Sans Light" pitchFamily="2" charset="77"/>
              </a:endParaRPr>
            </a:p>
          </p:txBody>
        </p:sp>
        <p:sp>
          <p:nvSpPr>
            <p:cNvPr id="21" name="CuadroTexto 1">
              <a:extLst>
                <a:ext uri="{FF2B5EF4-FFF2-40B4-BE49-F238E27FC236}">
                  <a16:creationId xmlns:a16="http://schemas.microsoft.com/office/drawing/2014/main" id="{052B7853-DDD7-1AC4-E0FC-60C4E4DB836F}"/>
                </a:ext>
              </a:extLst>
            </p:cNvPr>
            <p:cNvSpPr txBox="1"/>
            <p:nvPr/>
          </p:nvSpPr>
          <p:spPr>
            <a:xfrm>
              <a:off x="456236" y="5401415"/>
              <a:ext cx="4638260" cy="1077218"/>
            </a:xfrm>
            <a:prstGeom prst="rect">
              <a:avLst/>
            </a:prstGeom>
            <a:noFill/>
          </p:spPr>
          <p:txBody>
            <a:bodyPr wrap="square">
              <a:spAutoFit/>
            </a:bodyPr>
            <a:lstStyle/>
            <a:p>
              <a:pPr fontAlgn="base"/>
              <a:r>
                <a:rPr lang="es-ES" sz="1600" dirty="0">
                  <a:latin typeface="Work Sans Light" pitchFamily="2" charset="77"/>
                </a:rPr>
                <a:t>Su propósito es negar una proposición, es decir, que si tenemos una proposición verdadera al aplicarle este tipo de operador se obtiene la negación, es decir, es falso.</a:t>
              </a:r>
            </a:p>
          </p:txBody>
        </p:sp>
      </p:grpSp>
      <p:sp>
        <p:nvSpPr>
          <p:cNvPr id="22" name="Arrow: Right 21">
            <a:extLst>
              <a:ext uri="{FF2B5EF4-FFF2-40B4-BE49-F238E27FC236}">
                <a16:creationId xmlns:a16="http://schemas.microsoft.com/office/drawing/2014/main" id="{DD04B004-3327-4C0F-6C50-FABB6A5F374A}"/>
              </a:ext>
            </a:extLst>
          </p:cNvPr>
          <p:cNvSpPr/>
          <p:nvPr/>
        </p:nvSpPr>
        <p:spPr>
          <a:xfrm>
            <a:off x="5439053" y="5569002"/>
            <a:ext cx="874645" cy="338554"/>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27293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1" grpId="0"/>
      <p:bldP spid="8" grpId="0" animBg="1"/>
      <p:bldP spid="19"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332798"/>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Tablas de verdad</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CuadroTexto 1">
            <a:extLst>
              <a:ext uri="{FF2B5EF4-FFF2-40B4-BE49-F238E27FC236}">
                <a16:creationId xmlns:a16="http://schemas.microsoft.com/office/drawing/2014/main" id="{05C91B34-A9AF-EE63-68C6-548DAAE8E80E}"/>
              </a:ext>
            </a:extLst>
          </p:cNvPr>
          <p:cNvSpPr txBox="1"/>
          <p:nvPr/>
        </p:nvSpPr>
        <p:spPr>
          <a:xfrm>
            <a:off x="5623324" y="2364713"/>
            <a:ext cx="3665190" cy="369332"/>
          </a:xfrm>
          <a:prstGeom prst="rect">
            <a:avLst/>
          </a:prstGeom>
          <a:noFill/>
        </p:spPr>
        <p:txBody>
          <a:bodyPr wrap="square">
            <a:spAutoFit/>
          </a:bodyPr>
          <a:lstStyle/>
          <a:p>
            <a:pPr fontAlgn="base"/>
            <a:r>
              <a:rPr lang="es-ES" b="1" dirty="0">
                <a:latin typeface="Work Sans Light" pitchFamily="2" charset="77"/>
              </a:rPr>
              <a:t>Operador AND (y) conjunción</a:t>
            </a:r>
          </a:p>
        </p:txBody>
      </p:sp>
      <p:sp>
        <p:nvSpPr>
          <p:cNvPr id="6" name="CuadroTexto 1">
            <a:extLst>
              <a:ext uri="{FF2B5EF4-FFF2-40B4-BE49-F238E27FC236}">
                <a16:creationId xmlns:a16="http://schemas.microsoft.com/office/drawing/2014/main" id="{9B7B0FA3-AFBF-EB0C-0F73-633D3C6CA0A1}"/>
              </a:ext>
            </a:extLst>
          </p:cNvPr>
          <p:cNvSpPr txBox="1"/>
          <p:nvPr/>
        </p:nvSpPr>
        <p:spPr>
          <a:xfrm>
            <a:off x="895537" y="2074649"/>
            <a:ext cx="3373642" cy="4031873"/>
          </a:xfrm>
          <a:prstGeom prst="rect">
            <a:avLst/>
          </a:prstGeom>
          <a:noFill/>
        </p:spPr>
        <p:txBody>
          <a:bodyPr wrap="square">
            <a:spAutoFit/>
          </a:bodyPr>
          <a:lstStyle/>
          <a:p>
            <a:pPr algn="l" fontAlgn="base"/>
            <a:r>
              <a:rPr lang="es-ES" sz="1600" b="1" dirty="0">
                <a:latin typeface="Work Sans Light" pitchFamily="2" charset="77"/>
              </a:rPr>
              <a:t>a. </a:t>
            </a:r>
            <a:r>
              <a:rPr lang="es-ES" sz="1600" dirty="0">
                <a:latin typeface="Work Sans Light" pitchFamily="2" charset="77"/>
              </a:rPr>
              <a:t>El valor de una proposición verdadera se representa por “V” o un “1”.</a:t>
            </a:r>
          </a:p>
          <a:p>
            <a:pPr algn="ctr" fontAlgn="base"/>
            <a:endParaRPr lang="es-ES" sz="1600" dirty="0">
              <a:latin typeface="Work Sans Light" pitchFamily="2" charset="77"/>
            </a:endParaRPr>
          </a:p>
          <a:p>
            <a:pPr algn="l" fontAlgn="base"/>
            <a:r>
              <a:rPr lang="es-ES" sz="1600" b="1" dirty="0">
                <a:latin typeface="Work Sans Light" pitchFamily="2" charset="77"/>
              </a:rPr>
              <a:t>b. </a:t>
            </a:r>
            <a:r>
              <a:rPr lang="es-ES" sz="1600" dirty="0">
                <a:latin typeface="Work Sans Light" pitchFamily="2" charset="77"/>
              </a:rPr>
              <a:t>El valor de una proposición falsa se representa por “F” o un “0”.</a:t>
            </a:r>
          </a:p>
          <a:p>
            <a:pPr algn="ctr" fontAlgn="base"/>
            <a:endParaRPr lang="es-ES" sz="1600" dirty="0">
              <a:latin typeface="Work Sans Light" pitchFamily="2" charset="77"/>
            </a:endParaRPr>
          </a:p>
          <a:p>
            <a:pPr algn="l" fontAlgn="base"/>
            <a:r>
              <a:rPr lang="es-ES" sz="1600" b="1" dirty="0">
                <a:latin typeface="Work Sans Light" pitchFamily="2" charset="77"/>
              </a:rPr>
              <a:t>c. </a:t>
            </a:r>
            <a:r>
              <a:rPr lang="es-ES" sz="1600" dirty="0">
                <a:latin typeface="Work Sans Light" pitchFamily="2" charset="77"/>
              </a:rPr>
              <a:t>Existe una tabla de verdad para cada uno de los conectores lógicos, lo que se tiene que evaluar para responder si una proposición compuesta es verdadera o falsa es el estatus actual de las proposiciones simples. </a:t>
            </a:r>
          </a:p>
        </p:txBody>
      </p:sp>
      <p:sp>
        <p:nvSpPr>
          <p:cNvPr id="13" name="CuadroTexto 1">
            <a:extLst>
              <a:ext uri="{FF2B5EF4-FFF2-40B4-BE49-F238E27FC236}">
                <a16:creationId xmlns:a16="http://schemas.microsoft.com/office/drawing/2014/main" id="{B237BCD7-A87D-1FBD-E07D-871F5A8B4800}"/>
              </a:ext>
            </a:extLst>
          </p:cNvPr>
          <p:cNvSpPr txBox="1"/>
          <p:nvPr/>
        </p:nvSpPr>
        <p:spPr>
          <a:xfrm>
            <a:off x="5623324" y="2364713"/>
            <a:ext cx="3665190" cy="369332"/>
          </a:xfrm>
          <a:prstGeom prst="rect">
            <a:avLst/>
          </a:prstGeom>
          <a:noFill/>
        </p:spPr>
        <p:txBody>
          <a:bodyPr wrap="square">
            <a:spAutoFit/>
          </a:bodyPr>
          <a:lstStyle/>
          <a:p>
            <a:pPr fontAlgn="base"/>
            <a:r>
              <a:rPr lang="es-ES" b="1" dirty="0">
                <a:latin typeface="Work Sans Light" pitchFamily="2" charset="77"/>
              </a:rPr>
              <a:t>Operador OR </a:t>
            </a:r>
            <a:r>
              <a:rPr lang="es-CO" b="1" dirty="0">
                <a:latin typeface="Work Sans Light" pitchFamily="2" charset="77"/>
              </a:rPr>
              <a:t>(o) disyunción</a:t>
            </a:r>
            <a:endParaRPr lang="es-ES" b="1" dirty="0">
              <a:latin typeface="Work Sans Light" pitchFamily="2" charset="77"/>
            </a:endParaRPr>
          </a:p>
        </p:txBody>
      </p:sp>
      <p:sp>
        <p:nvSpPr>
          <p:cNvPr id="20" name="CuadroTexto 1">
            <a:extLst>
              <a:ext uri="{FF2B5EF4-FFF2-40B4-BE49-F238E27FC236}">
                <a16:creationId xmlns:a16="http://schemas.microsoft.com/office/drawing/2014/main" id="{188D935A-7275-9C25-F5CE-10A4024ADC2A}"/>
              </a:ext>
            </a:extLst>
          </p:cNvPr>
          <p:cNvSpPr txBox="1"/>
          <p:nvPr/>
        </p:nvSpPr>
        <p:spPr>
          <a:xfrm>
            <a:off x="5623324" y="2364713"/>
            <a:ext cx="3665190" cy="369332"/>
          </a:xfrm>
          <a:prstGeom prst="rect">
            <a:avLst/>
          </a:prstGeom>
          <a:noFill/>
        </p:spPr>
        <p:txBody>
          <a:bodyPr wrap="square">
            <a:spAutoFit/>
          </a:bodyPr>
          <a:lstStyle/>
          <a:p>
            <a:pPr fontAlgn="base"/>
            <a:r>
              <a:rPr lang="es-ES" b="1" dirty="0">
                <a:latin typeface="Work Sans Light" pitchFamily="2" charset="77"/>
              </a:rPr>
              <a:t>Operador </a:t>
            </a:r>
            <a:r>
              <a:rPr lang="es-CO" b="1" dirty="0">
                <a:latin typeface="Work Sans Light" pitchFamily="2" charset="77"/>
              </a:rPr>
              <a:t>NOT (no) negación</a:t>
            </a:r>
            <a:endParaRPr lang="es-ES" b="1" dirty="0">
              <a:latin typeface="Work Sans Light" pitchFamily="2" charset="77"/>
            </a:endParaRPr>
          </a:p>
        </p:txBody>
      </p:sp>
      <p:graphicFrame>
        <p:nvGraphicFramePr>
          <p:cNvPr id="5" name="Table 6">
            <a:extLst>
              <a:ext uri="{FF2B5EF4-FFF2-40B4-BE49-F238E27FC236}">
                <a16:creationId xmlns:a16="http://schemas.microsoft.com/office/drawing/2014/main" id="{154FBBCA-337C-2063-433D-5F15FEB80CA1}"/>
              </a:ext>
            </a:extLst>
          </p:cNvPr>
          <p:cNvGraphicFramePr>
            <a:graphicFrameLocks noGrp="1"/>
          </p:cNvGraphicFramePr>
          <p:nvPr>
            <p:extLst>
              <p:ext uri="{D42A27DB-BD31-4B8C-83A1-F6EECF244321}">
                <p14:modId xmlns:p14="http://schemas.microsoft.com/office/powerpoint/2010/main" val="567416317"/>
              </p:ext>
            </p:extLst>
          </p:nvPr>
        </p:nvGraphicFramePr>
        <p:xfrm>
          <a:off x="5711268" y="3125986"/>
          <a:ext cx="2779887" cy="2224200"/>
        </p:xfrm>
        <a:graphic>
          <a:graphicData uri="http://schemas.openxmlformats.org/drawingml/2006/table">
            <a:tbl>
              <a:tblPr firstRow="1" bandRow="1">
                <a:tableStyleId>{5C22544A-7EE6-4342-B048-85BDC9FD1C3A}</a:tableStyleId>
              </a:tblPr>
              <a:tblGrid>
                <a:gridCol w="926629">
                  <a:extLst>
                    <a:ext uri="{9D8B030D-6E8A-4147-A177-3AD203B41FA5}">
                      <a16:colId xmlns:a16="http://schemas.microsoft.com/office/drawing/2014/main" val="3112463860"/>
                    </a:ext>
                  </a:extLst>
                </a:gridCol>
                <a:gridCol w="926629">
                  <a:extLst>
                    <a:ext uri="{9D8B030D-6E8A-4147-A177-3AD203B41FA5}">
                      <a16:colId xmlns:a16="http://schemas.microsoft.com/office/drawing/2014/main" val="3685825539"/>
                    </a:ext>
                  </a:extLst>
                </a:gridCol>
                <a:gridCol w="926629">
                  <a:extLst>
                    <a:ext uri="{9D8B030D-6E8A-4147-A177-3AD203B41FA5}">
                      <a16:colId xmlns:a16="http://schemas.microsoft.com/office/drawing/2014/main" val="4246278710"/>
                    </a:ext>
                  </a:extLst>
                </a:gridCol>
              </a:tblGrid>
              <a:tr h="444328">
                <a:tc>
                  <a:txBody>
                    <a:bodyPr/>
                    <a:lstStyle/>
                    <a:p>
                      <a:pPr algn="ctr"/>
                      <a:r>
                        <a:rPr lang="es-CO" sz="2200" dirty="0"/>
                        <a:t>P</a:t>
                      </a:r>
                    </a:p>
                  </a:txBody>
                  <a:tcPr marL="109560" marR="109560" marT="54780" marB="54780"/>
                </a:tc>
                <a:tc>
                  <a:txBody>
                    <a:bodyPr/>
                    <a:lstStyle/>
                    <a:p>
                      <a:pPr algn="ctr"/>
                      <a:r>
                        <a:rPr lang="es-CO" sz="2200" dirty="0"/>
                        <a:t>Q</a:t>
                      </a:r>
                    </a:p>
                  </a:txBody>
                  <a:tcPr marL="109560" marR="109560" marT="54780" marB="54780"/>
                </a:tc>
                <a:tc>
                  <a:txBody>
                    <a:bodyPr/>
                    <a:lstStyle/>
                    <a:p>
                      <a:pPr algn="ctr"/>
                      <a:r>
                        <a:rPr lang="es-CO" sz="2200" dirty="0"/>
                        <a:t>P</a:t>
                      </a:r>
                      <a:r>
                        <a:rPr lang="es-ES" sz="2200" dirty="0">
                          <a:latin typeface="Work Sans Light" pitchFamily="2" charset="77"/>
                        </a:rPr>
                        <a:t>∧Q</a:t>
                      </a:r>
                      <a:endParaRPr lang="es-CO" sz="2200" dirty="0"/>
                    </a:p>
                  </a:txBody>
                  <a:tcPr marL="109560" marR="109560" marT="54780" marB="54780"/>
                </a:tc>
                <a:extLst>
                  <a:ext uri="{0D108BD9-81ED-4DB2-BD59-A6C34878D82A}">
                    <a16:rowId xmlns:a16="http://schemas.microsoft.com/office/drawing/2014/main" val="1747613103"/>
                  </a:ext>
                </a:extLst>
              </a:tr>
              <a:tr h="444328">
                <a:tc>
                  <a:txBody>
                    <a:bodyPr/>
                    <a:lstStyle/>
                    <a:p>
                      <a:pPr algn="ctr"/>
                      <a:r>
                        <a:rPr lang="es-CO" sz="2200" dirty="0"/>
                        <a:t>V</a:t>
                      </a:r>
                    </a:p>
                  </a:txBody>
                  <a:tcPr marL="109560" marR="109560" marT="54780" marB="54780"/>
                </a:tc>
                <a:tc>
                  <a:txBody>
                    <a:bodyPr/>
                    <a:lstStyle/>
                    <a:p>
                      <a:pPr algn="ctr"/>
                      <a:r>
                        <a:rPr lang="es-CO" sz="2200" dirty="0"/>
                        <a:t>V</a:t>
                      </a:r>
                    </a:p>
                  </a:txBody>
                  <a:tcPr marL="109560" marR="109560" marT="54780" marB="54780"/>
                </a:tc>
                <a:tc>
                  <a:txBody>
                    <a:bodyPr/>
                    <a:lstStyle/>
                    <a:p>
                      <a:pPr algn="ctr"/>
                      <a:r>
                        <a:rPr lang="es-CO" sz="2200" dirty="0"/>
                        <a:t>V</a:t>
                      </a:r>
                    </a:p>
                  </a:txBody>
                  <a:tcPr marL="109560" marR="109560" marT="54780" marB="54780"/>
                </a:tc>
                <a:extLst>
                  <a:ext uri="{0D108BD9-81ED-4DB2-BD59-A6C34878D82A}">
                    <a16:rowId xmlns:a16="http://schemas.microsoft.com/office/drawing/2014/main" val="2096651605"/>
                  </a:ext>
                </a:extLst>
              </a:tr>
              <a:tr h="444328">
                <a:tc>
                  <a:txBody>
                    <a:bodyPr/>
                    <a:lstStyle/>
                    <a:p>
                      <a:pPr algn="ctr"/>
                      <a:r>
                        <a:rPr lang="es-CO" sz="2200" dirty="0"/>
                        <a:t>F</a:t>
                      </a:r>
                    </a:p>
                  </a:txBody>
                  <a:tcPr marL="109560" marR="109560" marT="54780" marB="54780"/>
                </a:tc>
                <a:tc>
                  <a:txBody>
                    <a:bodyPr/>
                    <a:lstStyle/>
                    <a:p>
                      <a:pPr algn="ctr"/>
                      <a:r>
                        <a:rPr lang="es-CO" sz="2200" dirty="0"/>
                        <a:t>V</a:t>
                      </a:r>
                    </a:p>
                  </a:txBody>
                  <a:tcPr marL="109560" marR="109560" marT="54780" marB="54780"/>
                </a:tc>
                <a:tc>
                  <a:txBody>
                    <a:bodyPr/>
                    <a:lstStyle/>
                    <a:p>
                      <a:pPr algn="ctr"/>
                      <a:r>
                        <a:rPr lang="es-CO" sz="2200" dirty="0"/>
                        <a:t>F</a:t>
                      </a:r>
                    </a:p>
                  </a:txBody>
                  <a:tcPr marL="109560" marR="109560" marT="54780" marB="54780"/>
                </a:tc>
                <a:extLst>
                  <a:ext uri="{0D108BD9-81ED-4DB2-BD59-A6C34878D82A}">
                    <a16:rowId xmlns:a16="http://schemas.microsoft.com/office/drawing/2014/main" val="1091879467"/>
                  </a:ext>
                </a:extLst>
              </a:tr>
              <a:tr h="444328">
                <a:tc>
                  <a:txBody>
                    <a:bodyPr/>
                    <a:lstStyle/>
                    <a:p>
                      <a:pPr algn="ctr"/>
                      <a:r>
                        <a:rPr lang="es-CO" sz="2200" dirty="0"/>
                        <a:t>V</a:t>
                      </a:r>
                    </a:p>
                  </a:txBody>
                  <a:tcPr marL="109560" marR="109560" marT="54780" marB="54780"/>
                </a:tc>
                <a:tc>
                  <a:txBody>
                    <a:bodyPr/>
                    <a:lstStyle/>
                    <a:p>
                      <a:pPr algn="ctr"/>
                      <a:r>
                        <a:rPr lang="es-CO" sz="2200" dirty="0"/>
                        <a:t>F</a:t>
                      </a:r>
                    </a:p>
                  </a:txBody>
                  <a:tcPr marL="109560" marR="109560" marT="54780" marB="54780"/>
                </a:tc>
                <a:tc>
                  <a:txBody>
                    <a:bodyPr/>
                    <a:lstStyle/>
                    <a:p>
                      <a:pPr algn="ctr"/>
                      <a:r>
                        <a:rPr lang="es-CO" sz="2200" dirty="0"/>
                        <a:t>F</a:t>
                      </a:r>
                    </a:p>
                  </a:txBody>
                  <a:tcPr marL="109560" marR="109560" marT="54780" marB="54780"/>
                </a:tc>
                <a:extLst>
                  <a:ext uri="{0D108BD9-81ED-4DB2-BD59-A6C34878D82A}">
                    <a16:rowId xmlns:a16="http://schemas.microsoft.com/office/drawing/2014/main" val="2792239437"/>
                  </a:ext>
                </a:extLst>
              </a:tr>
              <a:tr h="444328">
                <a:tc>
                  <a:txBody>
                    <a:bodyPr/>
                    <a:lstStyle/>
                    <a:p>
                      <a:pPr algn="ctr"/>
                      <a:r>
                        <a:rPr lang="es-CO" sz="2200" dirty="0"/>
                        <a:t>F</a:t>
                      </a:r>
                    </a:p>
                  </a:txBody>
                  <a:tcPr marL="109560" marR="109560" marT="54780" marB="54780"/>
                </a:tc>
                <a:tc>
                  <a:txBody>
                    <a:bodyPr/>
                    <a:lstStyle/>
                    <a:p>
                      <a:pPr algn="ctr"/>
                      <a:r>
                        <a:rPr lang="es-CO" sz="2200" dirty="0"/>
                        <a:t>F</a:t>
                      </a:r>
                    </a:p>
                  </a:txBody>
                  <a:tcPr marL="109560" marR="109560" marT="54780" marB="54780"/>
                </a:tc>
                <a:tc>
                  <a:txBody>
                    <a:bodyPr/>
                    <a:lstStyle/>
                    <a:p>
                      <a:pPr algn="ctr"/>
                      <a:r>
                        <a:rPr lang="es-CO" sz="2200" dirty="0"/>
                        <a:t>F</a:t>
                      </a:r>
                    </a:p>
                  </a:txBody>
                  <a:tcPr marL="109560" marR="109560" marT="54780" marB="54780"/>
                </a:tc>
                <a:extLst>
                  <a:ext uri="{0D108BD9-81ED-4DB2-BD59-A6C34878D82A}">
                    <a16:rowId xmlns:a16="http://schemas.microsoft.com/office/drawing/2014/main" val="4185394958"/>
                  </a:ext>
                </a:extLst>
              </a:tr>
            </a:tbl>
          </a:graphicData>
        </a:graphic>
      </p:graphicFrame>
      <p:graphicFrame>
        <p:nvGraphicFramePr>
          <p:cNvPr id="7" name="Table 6">
            <a:extLst>
              <a:ext uri="{FF2B5EF4-FFF2-40B4-BE49-F238E27FC236}">
                <a16:creationId xmlns:a16="http://schemas.microsoft.com/office/drawing/2014/main" id="{9A1DEED7-E287-B66C-3550-987AC2FA6538}"/>
              </a:ext>
            </a:extLst>
          </p:cNvPr>
          <p:cNvGraphicFramePr>
            <a:graphicFrameLocks noGrp="1"/>
          </p:cNvGraphicFramePr>
          <p:nvPr>
            <p:extLst>
              <p:ext uri="{D42A27DB-BD31-4B8C-83A1-F6EECF244321}">
                <p14:modId xmlns:p14="http://schemas.microsoft.com/office/powerpoint/2010/main" val="2102319192"/>
              </p:ext>
            </p:extLst>
          </p:nvPr>
        </p:nvGraphicFramePr>
        <p:xfrm>
          <a:off x="8766119" y="3125986"/>
          <a:ext cx="2779887" cy="2224200"/>
        </p:xfrm>
        <a:graphic>
          <a:graphicData uri="http://schemas.openxmlformats.org/drawingml/2006/table">
            <a:tbl>
              <a:tblPr firstRow="1" bandRow="1">
                <a:tableStyleId>{5C22544A-7EE6-4342-B048-85BDC9FD1C3A}</a:tableStyleId>
              </a:tblPr>
              <a:tblGrid>
                <a:gridCol w="926629">
                  <a:extLst>
                    <a:ext uri="{9D8B030D-6E8A-4147-A177-3AD203B41FA5}">
                      <a16:colId xmlns:a16="http://schemas.microsoft.com/office/drawing/2014/main" val="3112463860"/>
                    </a:ext>
                  </a:extLst>
                </a:gridCol>
                <a:gridCol w="926629">
                  <a:extLst>
                    <a:ext uri="{9D8B030D-6E8A-4147-A177-3AD203B41FA5}">
                      <a16:colId xmlns:a16="http://schemas.microsoft.com/office/drawing/2014/main" val="3685825539"/>
                    </a:ext>
                  </a:extLst>
                </a:gridCol>
                <a:gridCol w="926629">
                  <a:extLst>
                    <a:ext uri="{9D8B030D-6E8A-4147-A177-3AD203B41FA5}">
                      <a16:colId xmlns:a16="http://schemas.microsoft.com/office/drawing/2014/main" val="4246278710"/>
                    </a:ext>
                  </a:extLst>
                </a:gridCol>
              </a:tblGrid>
              <a:tr h="444840">
                <a:tc>
                  <a:txBody>
                    <a:bodyPr/>
                    <a:lstStyle/>
                    <a:p>
                      <a:pPr algn="ctr"/>
                      <a:r>
                        <a:rPr lang="es-CO" sz="2100" dirty="0"/>
                        <a:t>P</a:t>
                      </a:r>
                    </a:p>
                  </a:txBody>
                  <a:tcPr marL="108486" marR="108486" marT="54243" marB="54243"/>
                </a:tc>
                <a:tc>
                  <a:txBody>
                    <a:bodyPr/>
                    <a:lstStyle/>
                    <a:p>
                      <a:pPr algn="ctr"/>
                      <a:r>
                        <a:rPr lang="es-CO" sz="2100" dirty="0"/>
                        <a:t>Q</a:t>
                      </a:r>
                    </a:p>
                  </a:txBody>
                  <a:tcPr marL="108486" marR="108486" marT="54243" marB="54243"/>
                </a:tc>
                <a:tc>
                  <a:txBody>
                    <a:bodyPr/>
                    <a:lstStyle/>
                    <a:p>
                      <a:pPr algn="ctr"/>
                      <a:r>
                        <a:rPr lang="es-CO" sz="2100" dirty="0"/>
                        <a:t>P</a:t>
                      </a:r>
                      <a:r>
                        <a:rPr lang="es-ES" sz="2100" dirty="0">
                          <a:latin typeface="Work Sans Light" pitchFamily="2" charset="77"/>
                        </a:rPr>
                        <a:t>∧Q</a:t>
                      </a:r>
                      <a:endParaRPr lang="es-CO" sz="2100" dirty="0"/>
                    </a:p>
                  </a:txBody>
                  <a:tcPr marL="108486" marR="108486" marT="54243" marB="54243"/>
                </a:tc>
                <a:extLst>
                  <a:ext uri="{0D108BD9-81ED-4DB2-BD59-A6C34878D82A}">
                    <a16:rowId xmlns:a16="http://schemas.microsoft.com/office/drawing/2014/main" val="1747613103"/>
                  </a:ext>
                </a:extLst>
              </a:tr>
              <a:tr h="444840">
                <a:tc>
                  <a:txBody>
                    <a:bodyPr/>
                    <a:lstStyle/>
                    <a:p>
                      <a:pPr algn="ctr"/>
                      <a:r>
                        <a:rPr lang="es-CO" sz="2100" dirty="0"/>
                        <a:t>1</a:t>
                      </a:r>
                    </a:p>
                  </a:txBody>
                  <a:tcPr marL="108486" marR="108486" marT="54243" marB="54243"/>
                </a:tc>
                <a:tc>
                  <a:txBody>
                    <a:bodyPr/>
                    <a:lstStyle/>
                    <a:p>
                      <a:pPr algn="ctr"/>
                      <a:r>
                        <a:rPr lang="es-CO" sz="2100" dirty="0"/>
                        <a:t>1</a:t>
                      </a:r>
                    </a:p>
                  </a:txBody>
                  <a:tcPr marL="108486" marR="108486" marT="54243" marB="54243"/>
                </a:tc>
                <a:tc>
                  <a:txBody>
                    <a:bodyPr/>
                    <a:lstStyle/>
                    <a:p>
                      <a:pPr algn="ctr"/>
                      <a:r>
                        <a:rPr lang="es-CO" sz="2100" dirty="0"/>
                        <a:t>1</a:t>
                      </a:r>
                    </a:p>
                  </a:txBody>
                  <a:tcPr marL="108486" marR="108486" marT="54243" marB="54243"/>
                </a:tc>
                <a:extLst>
                  <a:ext uri="{0D108BD9-81ED-4DB2-BD59-A6C34878D82A}">
                    <a16:rowId xmlns:a16="http://schemas.microsoft.com/office/drawing/2014/main" val="2096651605"/>
                  </a:ext>
                </a:extLst>
              </a:tr>
              <a:tr h="444840">
                <a:tc>
                  <a:txBody>
                    <a:bodyPr/>
                    <a:lstStyle/>
                    <a:p>
                      <a:pPr algn="ctr"/>
                      <a:r>
                        <a:rPr lang="es-CO" sz="2100" dirty="0"/>
                        <a:t>1</a:t>
                      </a:r>
                    </a:p>
                  </a:txBody>
                  <a:tcPr marL="108486" marR="108486" marT="54243" marB="54243"/>
                </a:tc>
                <a:tc>
                  <a:txBody>
                    <a:bodyPr/>
                    <a:lstStyle/>
                    <a:p>
                      <a:pPr algn="ctr"/>
                      <a:r>
                        <a:rPr lang="es-CO" sz="2100" dirty="0"/>
                        <a:t>0</a:t>
                      </a:r>
                    </a:p>
                  </a:txBody>
                  <a:tcPr marL="108486" marR="108486" marT="54243" marB="54243"/>
                </a:tc>
                <a:tc>
                  <a:txBody>
                    <a:bodyPr/>
                    <a:lstStyle/>
                    <a:p>
                      <a:pPr algn="ctr"/>
                      <a:r>
                        <a:rPr lang="es-CO" sz="2100" dirty="0"/>
                        <a:t>0</a:t>
                      </a:r>
                    </a:p>
                  </a:txBody>
                  <a:tcPr marL="108486" marR="108486" marT="54243" marB="54243"/>
                </a:tc>
                <a:extLst>
                  <a:ext uri="{0D108BD9-81ED-4DB2-BD59-A6C34878D82A}">
                    <a16:rowId xmlns:a16="http://schemas.microsoft.com/office/drawing/2014/main" val="1091879467"/>
                  </a:ext>
                </a:extLst>
              </a:tr>
              <a:tr h="444840">
                <a:tc>
                  <a:txBody>
                    <a:bodyPr/>
                    <a:lstStyle/>
                    <a:p>
                      <a:pPr algn="ctr"/>
                      <a:r>
                        <a:rPr lang="es-CO" sz="2100" dirty="0"/>
                        <a:t>0</a:t>
                      </a:r>
                    </a:p>
                  </a:txBody>
                  <a:tcPr marL="108486" marR="108486" marT="54243" marB="54243"/>
                </a:tc>
                <a:tc>
                  <a:txBody>
                    <a:bodyPr/>
                    <a:lstStyle/>
                    <a:p>
                      <a:pPr algn="ctr"/>
                      <a:r>
                        <a:rPr lang="es-CO" sz="2100" dirty="0"/>
                        <a:t>1</a:t>
                      </a:r>
                    </a:p>
                  </a:txBody>
                  <a:tcPr marL="108486" marR="108486" marT="54243" marB="54243"/>
                </a:tc>
                <a:tc>
                  <a:txBody>
                    <a:bodyPr/>
                    <a:lstStyle/>
                    <a:p>
                      <a:pPr algn="ctr"/>
                      <a:r>
                        <a:rPr lang="es-CO" sz="2100" dirty="0"/>
                        <a:t>0</a:t>
                      </a:r>
                    </a:p>
                  </a:txBody>
                  <a:tcPr marL="108486" marR="108486" marT="54243" marB="54243"/>
                </a:tc>
                <a:extLst>
                  <a:ext uri="{0D108BD9-81ED-4DB2-BD59-A6C34878D82A}">
                    <a16:rowId xmlns:a16="http://schemas.microsoft.com/office/drawing/2014/main" val="2792239437"/>
                  </a:ext>
                </a:extLst>
              </a:tr>
              <a:tr h="444840">
                <a:tc>
                  <a:txBody>
                    <a:bodyPr/>
                    <a:lstStyle/>
                    <a:p>
                      <a:pPr algn="ctr"/>
                      <a:r>
                        <a:rPr lang="es-CO" sz="2100" dirty="0"/>
                        <a:t>0</a:t>
                      </a:r>
                    </a:p>
                  </a:txBody>
                  <a:tcPr marL="108486" marR="108486" marT="54243" marB="54243"/>
                </a:tc>
                <a:tc>
                  <a:txBody>
                    <a:bodyPr/>
                    <a:lstStyle/>
                    <a:p>
                      <a:pPr algn="ctr"/>
                      <a:r>
                        <a:rPr lang="es-CO" sz="2100" dirty="0"/>
                        <a:t>0</a:t>
                      </a:r>
                    </a:p>
                  </a:txBody>
                  <a:tcPr marL="108486" marR="108486" marT="54243" marB="54243"/>
                </a:tc>
                <a:tc>
                  <a:txBody>
                    <a:bodyPr/>
                    <a:lstStyle/>
                    <a:p>
                      <a:pPr algn="ctr"/>
                      <a:r>
                        <a:rPr lang="es-CO" sz="2100" dirty="0"/>
                        <a:t>0</a:t>
                      </a:r>
                    </a:p>
                  </a:txBody>
                  <a:tcPr marL="108486" marR="108486" marT="54243" marB="54243"/>
                </a:tc>
                <a:extLst>
                  <a:ext uri="{0D108BD9-81ED-4DB2-BD59-A6C34878D82A}">
                    <a16:rowId xmlns:a16="http://schemas.microsoft.com/office/drawing/2014/main" val="4185394958"/>
                  </a:ext>
                </a:extLst>
              </a:tr>
            </a:tbl>
          </a:graphicData>
        </a:graphic>
      </p:graphicFrame>
      <p:graphicFrame>
        <p:nvGraphicFramePr>
          <p:cNvPr id="17" name="Table 6">
            <a:extLst>
              <a:ext uri="{FF2B5EF4-FFF2-40B4-BE49-F238E27FC236}">
                <a16:creationId xmlns:a16="http://schemas.microsoft.com/office/drawing/2014/main" id="{43574E61-F919-7624-ACFB-118EBF7F82B1}"/>
              </a:ext>
            </a:extLst>
          </p:cNvPr>
          <p:cNvGraphicFramePr>
            <a:graphicFrameLocks noGrp="1"/>
          </p:cNvGraphicFramePr>
          <p:nvPr>
            <p:extLst>
              <p:ext uri="{D42A27DB-BD31-4B8C-83A1-F6EECF244321}">
                <p14:modId xmlns:p14="http://schemas.microsoft.com/office/powerpoint/2010/main" val="435647998"/>
              </p:ext>
            </p:extLst>
          </p:nvPr>
        </p:nvGraphicFramePr>
        <p:xfrm>
          <a:off x="5711268" y="3125986"/>
          <a:ext cx="2779887" cy="2224200"/>
        </p:xfrm>
        <a:graphic>
          <a:graphicData uri="http://schemas.openxmlformats.org/drawingml/2006/table">
            <a:tbl>
              <a:tblPr firstRow="1" bandRow="1">
                <a:tableStyleId>{5C22544A-7EE6-4342-B048-85BDC9FD1C3A}</a:tableStyleId>
              </a:tblPr>
              <a:tblGrid>
                <a:gridCol w="926629">
                  <a:extLst>
                    <a:ext uri="{9D8B030D-6E8A-4147-A177-3AD203B41FA5}">
                      <a16:colId xmlns:a16="http://schemas.microsoft.com/office/drawing/2014/main" val="3112463860"/>
                    </a:ext>
                  </a:extLst>
                </a:gridCol>
                <a:gridCol w="926629">
                  <a:extLst>
                    <a:ext uri="{9D8B030D-6E8A-4147-A177-3AD203B41FA5}">
                      <a16:colId xmlns:a16="http://schemas.microsoft.com/office/drawing/2014/main" val="3685825539"/>
                    </a:ext>
                  </a:extLst>
                </a:gridCol>
                <a:gridCol w="926629">
                  <a:extLst>
                    <a:ext uri="{9D8B030D-6E8A-4147-A177-3AD203B41FA5}">
                      <a16:colId xmlns:a16="http://schemas.microsoft.com/office/drawing/2014/main" val="4246278710"/>
                    </a:ext>
                  </a:extLst>
                </a:gridCol>
              </a:tblGrid>
              <a:tr h="444328">
                <a:tc>
                  <a:txBody>
                    <a:bodyPr/>
                    <a:lstStyle/>
                    <a:p>
                      <a:pPr algn="ctr"/>
                      <a:r>
                        <a:rPr lang="es-CO" sz="2200" dirty="0"/>
                        <a:t>P</a:t>
                      </a:r>
                    </a:p>
                  </a:txBody>
                  <a:tcPr marL="109560" marR="109560" marT="54780" marB="54780"/>
                </a:tc>
                <a:tc>
                  <a:txBody>
                    <a:bodyPr/>
                    <a:lstStyle/>
                    <a:p>
                      <a:pPr algn="ctr"/>
                      <a:r>
                        <a:rPr lang="es-CO" sz="2200" dirty="0"/>
                        <a:t>Q</a:t>
                      </a:r>
                    </a:p>
                  </a:txBody>
                  <a:tcPr marL="109560" marR="109560" marT="54780" marB="54780"/>
                </a:tc>
                <a:tc>
                  <a:txBody>
                    <a:bodyPr/>
                    <a:lstStyle/>
                    <a:p>
                      <a:pPr algn="ctr"/>
                      <a:r>
                        <a:rPr lang="es-CO" sz="2200" dirty="0"/>
                        <a:t>P</a:t>
                      </a:r>
                      <a:r>
                        <a:rPr lang="es-ES" sz="2200" dirty="0">
                          <a:latin typeface="Work Sans Light" pitchFamily="2" charset="77"/>
                        </a:rPr>
                        <a:t>VQ</a:t>
                      </a:r>
                      <a:endParaRPr lang="es-CO" sz="2200" dirty="0"/>
                    </a:p>
                  </a:txBody>
                  <a:tcPr marL="109560" marR="109560" marT="54780" marB="54780"/>
                </a:tc>
                <a:extLst>
                  <a:ext uri="{0D108BD9-81ED-4DB2-BD59-A6C34878D82A}">
                    <a16:rowId xmlns:a16="http://schemas.microsoft.com/office/drawing/2014/main" val="1747613103"/>
                  </a:ext>
                </a:extLst>
              </a:tr>
              <a:tr h="444328">
                <a:tc>
                  <a:txBody>
                    <a:bodyPr/>
                    <a:lstStyle/>
                    <a:p>
                      <a:pPr algn="ctr"/>
                      <a:r>
                        <a:rPr lang="es-CO" sz="2200" dirty="0"/>
                        <a:t>V</a:t>
                      </a:r>
                    </a:p>
                  </a:txBody>
                  <a:tcPr marL="109560" marR="109560" marT="54780" marB="54780"/>
                </a:tc>
                <a:tc>
                  <a:txBody>
                    <a:bodyPr/>
                    <a:lstStyle/>
                    <a:p>
                      <a:pPr algn="ctr"/>
                      <a:r>
                        <a:rPr lang="es-CO" sz="2200" dirty="0"/>
                        <a:t>V</a:t>
                      </a:r>
                    </a:p>
                  </a:txBody>
                  <a:tcPr marL="109560" marR="109560" marT="54780" marB="54780"/>
                </a:tc>
                <a:tc>
                  <a:txBody>
                    <a:bodyPr/>
                    <a:lstStyle/>
                    <a:p>
                      <a:pPr algn="ctr"/>
                      <a:r>
                        <a:rPr lang="es-CO" sz="2200" dirty="0"/>
                        <a:t>V</a:t>
                      </a:r>
                    </a:p>
                  </a:txBody>
                  <a:tcPr marL="109560" marR="109560" marT="54780" marB="54780"/>
                </a:tc>
                <a:extLst>
                  <a:ext uri="{0D108BD9-81ED-4DB2-BD59-A6C34878D82A}">
                    <a16:rowId xmlns:a16="http://schemas.microsoft.com/office/drawing/2014/main" val="2096651605"/>
                  </a:ext>
                </a:extLst>
              </a:tr>
              <a:tr h="444328">
                <a:tc>
                  <a:txBody>
                    <a:bodyPr/>
                    <a:lstStyle/>
                    <a:p>
                      <a:pPr algn="ctr"/>
                      <a:r>
                        <a:rPr lang="es-CO" sz="2200" dirty="0"/>
                        <a:t>F</a:t>
                      </a:r>
                    </a:p>
                  </a:txBody>
                  <a:tcPr marL="109560" marR="109560" marT="54780" marB="54780"/>
                </a:tc>
                <a:tc>
                  <a:txBody>
                    <a:bodyPr/>
                    <a:lstStyle/>
                    <a:p>
                      <a:pPr algn="ctr"/>
                      <a:r>
                        <a:rPr lang="es-CO" sz="2200" dirty="0"/>
                        <a:t>V</a:t>
                      </a:r>
                    </a:p>
                  </a:txBody>
                  <a:tcPr marL="109560" marR="109560" marT="54780" marB="54780"/>
                </a:tc>
                <a:tc>
                  <a:txBody>
                    <a:bodyPr/>
                    <a:lstStyle/>
                    <a:p>
                      <a:pPr algn="ctr"/>
                      <a:r>
                        <a:rPr lang="es-CO" sz="2200" dirty="0"/>
                        <a:t>V</a:t>
                      </a:r>
                    </a:p>
                  </a:txBody>
                  <a:tcPr marL="109560" marR="109560" marT="54780" marB="54780"/>
                </a:tc>
                <a:extLst>
                  <a:ext uri="{0D108BD9-81ED-4DB2-BD59-A6C34878D82A}">
                    <a16:rowId xmlns:a16="http://schemas.microsoft.com/office/drawing/2014/main" val="1091879467"/>
                  </a:ext>
                </a:extLst>
              </a:tr>
              <a:tr h="444328">
                <a:tc>
                  <a:txBody>
                    <a:bodyPr/>
                    <a:lstStyle/>
                    <a:p>
                      <a:pPr algn="ctr"/>
                      <a:r>
                        <a:rPr lang="es-CO" sz="2200" dirty="0"/>
                        <a:t>V</a:t>
                      </a:r>
                    </a:p>
                  </a:txBody>
                  <a:tcPr marL="109560" marR="109560" marT="54780" marB="54780"/>
                </a:tc>
                <a:tc>
                  <a:txBody>
                    <a:bodyPr/>
                    <a:lstStyle/>
                    <a:p>
                      <a:pPr algn="ctr"/>
                      <a:r>
                        <a:rPr lang="es-CO" sz="2200" dirty="0"/>
                        <a:t>F</a:t>
                      </a:r>
                    </a:p>
                  </a:txBody>
                  <a:tcPr marL="109560" marR="109560" marT="54780" marB="54780"/>
                </a:tc>
                <a:tc>
                  <a:txBody>
                    <a:bodyPr/>
                    <a:lstStyle/>
                    <a:p>
                      <a:pPr algn="ctr"/>
                      <a:r>
                        <a:rPr lang="es-CO" sz="2200" dirty="0"/>
                        <a:t>V</a:t>
                      </a:r>
                    </a:p>
                  </a:txBody>
                  <a:tcPr marL="109560" marR="109560" marT="54780" marB="54780"/>
                </a:tc>
                <a:extLst>
                  <a:ext uri="{0D108BD9-81ED-4DB2-BD59-A6C34878D82A}">
                    <a16:rowId xmlns:a16="http://schemas.microsoft.com/office/drawing/2014/main" val="2792239437"/>
                  </a:ext>
                </a:extLst>
              </a:tr>
              <a:tr h="444328">
                <a:tc>
                  <a:txBody>
                    <a:bodyPr/>
                    <a:lstStyle/>
                    <a:p>
                      <a:pPr algn="ctr"/>
                      <a:r>
                        <a:rPr lang="es-CO" sz="2200" dirty="0"/>
                        <a:t>F</a:t>
                      </a:r>
                    </a:p>
                  </a:txBody>
                  <a:tcPr marL="109560" marR="109560" marT="54780" marB="54780"/>
                </a:tc>
                <a:tc>
                  <a:txBody>
                    <a:bodyPr/>
                    <a:lstStyle/>
                    <a:p>
                      <a:pPr algn="ctr"/>
                      <a:r>
                        <a:rPr lang="es-CO" sz="2200" dirty="0"/>
                        <a:t>F</a:t>
                      </a:r>
                    </a:p>
                  </a:txBody>
                  <a:tcPr marL="109560" marR="109560" marT="54780" marB="54780"/>
                </a:tc>
                <a:tc>
                  <a:txBody>
                    <a:bodyPr/>
                    <a:lstStyle/>
                    <a:p>
                      <a:pPr algn="ctr"/>
                      <a:r>
                        <a:rPr lang="es-CO" sz="2200" dirty="0"/>
                        <a:t>F</a:t>
                      </a:r>
                    </a:p>
                  </a:txBody>
                  <a:tcPr marL="109560" marR="109560" marT="54780" marB="54780"/>
                </a:tc>
                <a:extLst>
                  <a:ext uri="{0D108BD9-81ED-4DB2-BD59-A6C34878D82A}">
                    <a16:rowId xmlns:a16="http://schemas.microsoft.com/office/drawing/2014/main" val="4185394958"/>
                  </a:ext>
                </a:extLst>
              </a:tr>
            </a:tbl>
          </a:graphicData>
        </a:graphic>
      </p:graphicFrame>
      <p:graphicFrame>
        <p:nvGraphicFramePr>
          <p:cNvPr id="18" name="Table 17">
            <a:extLst>
              <a:ext uri="{FF2B5EF4-FFF2-40B4-BE49-F238E27FC236}">
                <a16:creationId xmlns:a16="http://schemas.microsoft.com/office/drawing/2014/main" id="{2454DD8E-FD13-121E-1D80-493AEFDB424B}"/>
              </a:ext>
            </a:extLst>
          </p:cNvPr>
          <p:cNvGraphicFramePr>
            <a:graphicFrameLocks noGrp="1"/>
          </p:cNvGraphicFramePr>
          <p:nvPr>
            <p:extLst>
              <p:ext uri="{D42A27DB-BD31-4B8C-83A1-F6EECF244321}">
                <p14:modId xmlns:p14="http://schemas.microsoft.com/office/powerpoint/2010/main" val="2596090426"/>
              </p:ext>
            </p:extLst>
          </p:nvPr>
        </p:nvGraphicFramePr>
        <p:xfrm>
          <a:off x="8766119" y="3125986"/>
          <a:ext cx="2779887" cy="2224200"/>
        </p:xfrm>
        <a:graphic>
          <a:graphicData uri="http://schemas.openxmlformats.org/drawingml/2006/table">
            <a:tbl>
              <a:tblPr firstRow="1" bandRow="1">
                <a:tableStyleId>{5C22544A-7EE6-4342-B048-85BDC9FD1C3A}</a:tableStyleId>
              </a:tblPr>
              <a:tblGrid>
                <a:gridCol w="926629">
                  <a:extLst>
                    <a:ext uri="{9D8B030D-6E8A-4147-A177-3AD203B41FA5}">
                      <a16:colId xmlns:a16="http://schemas.microsoft.com/office/drawing/2014/main" val="3112463860"/>
                    </a:ext>
                  </a:extLst>
                </a:gridCol>
                <a:gridCol w="926629">
                  <a:extLst>
                    <a:ext uri="{9D8B030D-6E8A-4147-A177-3AD203B41FA5}">
                      <a16:colId xmlns:a16="http://schemas.microsoft.com/office/drawing/2014/main" val="3685825539"/>
                    </a:ext>
                  </a:extLst>
                </a:gridCol>
                <a:gridCol w="926629">
                  <a:extLst>
                    <a:ext uri="{9D8B030D-6E8A-4147-A177-3AD203B41FA5}">
                      <a16:colId xmlns:a16="http://schemas.microsoft.com/office/drawing/2014/main" val="4246278710"/>
                    </a:ext>
                  </a:extLst>
                </a:gridCol>
              </a:tblGrid>
              <a:tr h="444840">
                <a:tc>
                  <a:txBody>
                    <a:bodyPr/>
                    <a:lstStyle/>
                    <a:p>
                      <a:pPr algn="ctr"/>
                      <a:r>
                        <a:rPr lang="es-CO" sz="2100" dirty="0"/>
                        <a:t>P</a:t>
                      </a:r>
                    </a:p>
                  </a:txBody>
                  <a:tcPr marL="108486" marR="108486" marT="54243" marB="54243"/>
                </a:tc>
                <a:tc>
                  <a:txBody>
                    <a:bodyPr/>
                    <a:lstStyle/>
                    <a:p>
                      <a:pPr algn="ctr"/>
                      <a:r>
                        <a:rPr lang="es-CO" sz="2100" dirty="0"/>
                        <a:t>Q</a:t>
                      </a:r>
                    </a:p>
                  </a:txBody>
                  <a:tcPr marL="108486" marR="108486" marT="54243" marB="54243"/>
                </a:tc>
                <a:tc>
                  <a:txBody>
                    <a:bodyPr/>
                    <a:lstStyle/>
                    <a:p>
                      <a:pPr algn="ctr"/>
                      <a:r>
                        <a:rPr lang="es-CO" sz="2100" dirty="0"/>
                        <a:t>P</a:t>
                      </a:r>
                      <a:r>
                        <a:rPr lang="es-ES" sz="2100" dirty="0">
                          <a:latin typeface="Work Sans Light" pitchFamily="2" charset="77"/>
                        </a:rPr>
                        <a:t>VQ</a:t>
                      </a:r>
                      <a:endParaRPr lang="es-CO" sz="2100" dirty="0"/>
                    </a:p>
                  </a:txBody>
                  <a:tcPr marL="108486" marR="108486" marT="54243" marB="54243"/>
                </a:tc>
                <a:extLst>
                  <a:ext uri="{0D108BD9-81ED-4DB2-BD59-A6C34878D82A}">
                    <a16:rowId xmlns:a16="http://schemas.microsoft.com/office/drawing/2014/main" val="1747613103"/>
                  </a:ext>
                </a:extLst>
              </a:tr>
              <a:tr h="444840">
                <a:tc>
                  <a:txBody>
                    <a:bodyPr/>
                    <a:lstStyle/>
                    <a:p>
                      <a:pPr algn="ctr"/>
                      <a:r>
                        <a:rPr lang="es-CO" sz="2100" dirty="0"/>
                        <a:t>1</a:t>
                      </a:r>
                    </a:p>
                  </a:txBody>
                  <a:tcPr marL="108486" marR="108486" marT="54243" marB="54243"/>
                </a:tc>
                <a:tc>
                  <a:txBody>
                    <a:bodyPr/>
                    <a:lstStyle/>
                    <a:p>
                      <a:pPr algn="ctr"/>
                      <a:r>
                        <a:rPr lang="es-CO" sz="2100" dirty="0"/>
                        <a:t>1</a:t>
                      </a:r>
                    </a:p>
                  </a:txBody>
                  <a:tcPr marL="108486" marR="108486" marT="54243" marB="54243"/>
                </a:tc>
                <a:tc>
                  <a:txBody>
                    <a:bodyPr/>
                    <a:lstStyle/>
                    <a:p>
                      <a:pPr algn="ctr"/>
                      <a:r>
                        <a:rPr lang="es-CO" sz="2100" dirty="0"/>
                        <a:t>1</a:t>
                      </a:r>
                    </a:p>
                  </a:txBody>
                  <a:tcPr marL="108486" marR="108486" marT="54243" marB="54243"/>
                </a:tc>
                <a:extLst>
                  <a:ext uri="{0D108BD9-81ED-4DB2-BD59-A6C34878D82A}">
                    <a16:rowId xmlns:a16="http://schemas.microsoft.com/office/drawing/2014/main" val="2096651605"/>
                  </a:ext>
                </a:extLst>
              </a:tr>
              <a:tr h="444840">
                <a:tc>
                  <a:txBody>
                    <a:bodyPr/>
                    <a:lstStyle/>
                    <a:p>
                      <a:pPr algn="ctr"/>
                      <a:r>
                        <a:rPr lang="es-CO" sz="2100" dirty="0"/>
                        <a:t>1</a:t>
                      </a:r>
                    </a:p>
                  </a:txBody>
                  <a:tcPr marL="108486" marR="108486" marT="54243" marB="54243"/>
                </a:tc>
                <a:tc>
                  <a:txBody>
                    <a:bodyPr/>
                    <a:lstStyle/>
                    <a:p>
                      <a:pPr algn="ctr"/>
                      <a:r>
                        <a:rPr lang="es-CO" sz="2100" dirty="0"/>
                        <a:t>0</a:t>
                      </a:r>
                    </a:p>
                  </a:txBody>
                  <a:tcPr marL="108486" marR="108486" marT="54243" marB="54243"/>
                </a:tc>
                <a:tc>
                  <a:txBody>
                    <a:bodyPr/>
                    <a:lstStyle/>
                    <a:p>
                      <a:pPr algn="ctr"/>
                      <a:r>
                        <a:rPr lang="es-CO" sz="2100" dirty="0"/>
                        <a:t>1</a:t>
                      </a:r>
                    </a:p>
                  </a:txBody>
                  <a:tcPr marL="108486" marR="108486" marT="54243" marB="54243"/>
                </a:tc>
                <a:extLst>
                  <a:ext uri="{0D108BD9-81ED-4DB2-BD59-A6C34878D82A}">
                    <a16:rowId xmlns:a16="http://schemas.microsoft.com/office/drawing/2014/main" val="1091879467"/>
                  </a:ext>
                </a:extLst>
              </a:tr>
              <a:tr h="444840">
                <a:tc>
                  <a:txBody>
                    <a:bodyPr/>
                    <a:lstStyle/>
                    <a:p>
                      <a:pPr algn="ctr"/>
                      <a:r>
                        <a:rPr lang="es-CO" sz="2100" dirty="0"/>
                        <a:t>0</a:t>
                      </a:r>
                    </a:p>
                  </a:txBody>
                  <a:tcPr marL="108486" marR="108486" marT="54243" marB="54243"/>
                </a:tc>
                <a:tc>
                  <a:txBody>
                    <a:bodyPr/>
                    <a:lstStyle/>
                    <a:p>
                      <a:pPr algn="ctr"/>
                      <a:r>
                        <a:rPr lang="es-CO" sz="2100" dirty="0"/>
                        <a:t>1</a:t>
                      </a:r>
                    </a:p>
                  </a:txBody>
                  <a:tcPr marL="108486" marR="108486" marT="54243" marB="54243"/>
                </a:tc>
                <a:tc>
                  <a:txBody>
                    <a:bodyPr/>
                    <a:lstStyle/>
                    <a:p>
                      <a:pPr algn="ctr"/>
                      <a:r>
                        <a:rPr lang="es-CO" sz="2100" dirty="0"/>
                        <a:t>1</a:t>
                      </a:r>
                    </a:p>
                  </a:txBody>
                  <a:tcPr marL="108486" marR="108486" marT="54243" marB="54243"/>
                </a:tc>
                <a:extLst>
                  <a:ext uri="{0D108BD9-81ED-4DB2-BD59-A6C34878D82A}">
                    <a16:rowId xmlns:a16="http://schemas.microsoft.com/office/drawing/2014/main" val="2792239437"/>
                  </a:ext>
                </a:extLst>
              </a:tr>
              <a:tr h="444840">
                <a:tc>
                  <a:txBody>
                    <a:bodyPr/>
                    <a:lstStyle/>
                    <a:p>
                      <a:pPr algn="ctr"/>
                      <a:r>
                        <a:rPr lang="es-CO" sz="2100" dirty="0"/>
                        <a:t>0</a:t>
                      </a:r>
                    </a:p>
                  </a:txBody>
                  <a:tcPr marL="108486" marR="108486" marT="54243" marB="54243"/>
                </a:tc>
                <a:tc>
                  <a:txBody>
                    <a:bodyPr/>
                    <a:lstStyle/>
                    <a:p>
                      <a:pPr algn="ctr"/>
                      <a:r>
                        <a:rPr lang="es-CO" sz="2100" dirty="0"/>
                        <a:t>0</a:t>
                      </a:r>
                    </a:p>
                  </a:txBody>
                  <a:tcPr marL="108486" marR="108486" marT="54243" marB="54243"/>
                </a:tc>
                <a:tc>
                  <a:txBody>
                    <a:bodyPr/>
                    <a:lstStyle/>
                    <a:p>
                      <a:pPr algn="ctr"/>
                      <a:r>
                        <a:rPr lang="es-CO" sz="2100" dirty="0"/>
                        <a:t>0</a:t>
                      </a:r>
                    </a:p>
                  </a:txBody>
                  <a:tcPr marL="108486" marR="108486" marT="54243" marB="54243"/>
                </a:tc>
                <a:extLst>
                  <a:ext uri="{0D108BD9-81ED-4DB2-BD59-A6C34878D82A}">
                    <a16:rowId xmlns:a16="http://schemas.microsoft.com/office/drawing/2014/main" val="4185394958"/>
                  </a:ext>
                </a:extLst>
              </a:tr>
            </a:tbl>
          </a:graphicData>
        </a:graphic>
      </p:graphicFrame>
      <p:graphicFrame>
        <p:nvGraphicFramePr>
          <p:cNvPr id="26" name="Table 6">
            <a:extLst>
              <a:ext uri="{FF2B5EF4-FFF2-40B4-BE49-F238E27FC236}">
                <a16:creationId xmlns:a16="http://schemas.microsoft.com/office/drawing/2014/main" id="{6361DE65-658F-3C9D-2FB9-A7088A3F5E70}"/>
              </a:ext>
            </a:extLst>
          </p:cNvPr>
          <p:cNvGraphicFramePr>
            <a:graphicFrameLocks noGrp="1"/>
          </p:cNvGraphicFramePr>
          <p:nvPr>
            <p:extLst>
              <p:ext uri="{D42A27DB-BD31-4B8C-83A1-F6EECF244321}">
                <p14:modId xmlns:p14="http://schemas.microsoft.com/office/powerpoint/2010/main" val="1409611671"/>
              </p:ext>
            </p:extLst>
          </p:nvPr>
        </p:nvGraphicFramePr>
        <p:xfrm>
          <a:off x="5711268" y="3125986"/>
          <a:ext cx="1853258" cy="1334520"/>
        </p:xfrm>
        <a:graphic>
          <a:graphicData uri="http://schemas.openxmlformats.org/drawingml/2006/table">
            <a:tbl>
              <a:tblPr firstRow="1" bandRow="1">
                <a:tableStyleId>{5C22544A-7EE6-4342-B048-85BDC9FD1C3A}</a:tableStyleId>
              </a:tblPr>
              <a:tblGrid>
                <a:gridCol w="926629">
                  <a:extLst>
                    <a:ext uri="{9D8B030D-6E8A-4147-A177-3AD203B41FA5}">
                      <a16:colId xmlns:a16="http://schemas.microsoft.com/office/drawing/2014/main" val="3112463860"/>
                    </a:ext>
                  </a:extLst>
                </a:gridCol>
                <a:gridCol w="926629">
                  <a:extLst>
                    <a:ext uri="{9D8B030D-6E8A-4147-A177-3AD203B41FA5}">
                      <a16:colId xmlns:a16="http://schemas.microsoft.com/office/drawing/2014/main" val="3685825539"/>
                    </a:ext>
                  </a:extLst>
                </a:gridCol>
              </a:tblGrid>
              <a:tr h="444328">
                <a:tc>
                  <a:txBody>
                    <a:bodyPr/>
                    <a:lstStyle/>
                    <a:p>
                      <a:pPr algn="ctr"/>
                      <a:r>
                        <a:rPr lang="es-CO" sz="2200" dirty="0"/>
                        <a:t>P</a:t>
                      </a:r>
                    </a:p>
                  </a:txBody>
                  <a:tcPr marL="109560" marR="109560" marT="54780" marB="54780"/>
                </a:tc>
                <a:tc>
                  <a:txBody>
                    <a:bodyPr/>
                    <a:lstStyle/>
                    <a:p>
                      <a:pPr algn="ctr"/>
                      <a:r>
                        <a:rPr lang="es-CO" sz="2200" dirty="0"/>
                        <a:t>-P</a:t>
                      </a:r>
                    </a:p>
                  </a:txBody>
                  <a:tcPr marL="109560" marR="109560" marT="54780" marB="54780"/>
                </a:tc>
                <a:extLst>
                  <a:ext uri="{0D108BD9-81ED-4DB2-BD59-A6C34878D82A}">
                    <a16:rowId xmlns:a16="http://schemas.microsoft.com/office/drawing/2014/main" val="1747613103"/>
                  </a:ext>
                </a:extLst>
              </a:tr>
              <a:tr h="444328">
                <a:tc>
                  <a:txBody>
                    <a:bodyPr/>
                    <a:lstStyle/>
                    <a:p>
                      <a:pPr algn="ctr"/>
                      <a:r>
                        <a:rPr lang="es-CO" sz="2200" dirty="0"/>
                        <a:t>V</a:t>
                      </a:r>
                    </a:p>
                  </a:txBody>
                  <a:tcPr marL="109560" marR="109560" marT="54780" marB="54780"/>
                </a:tc>
                <a:tc>
                  <a:txBody>
                    <a:bodyPr/>
                    <a:lstStyle/>
                    <a:p>
                      <a:pPr algn="ctr"/>
                      <a:r>
                        <a:rPr lang="es-CO" sz="2200" dirty="0"/>
                        <a:t>F</a:t>
                      </a:r>
                    </a:p>
                  </a:txBody>
                  <a:tcPr marL="109560" marR="109560" marT="54780" marB="54780"/>
                </a:tc>
                <a:extLst>
                  <a:ext uri="{0D108BD9-81ED-4DB2-BD59-A6C34878D82A}">
                    <a16:rowId xmlns:a16="http://schemas.microsoft.com/office/drawing/2014/main" val="2096651605"/>
                  </a:ext>
                </a:extLst>
              </a:tr>
              <a:tr h="444328">
                <a:tc>
                  <a:txBody>
                    <a:bodyPr/>
                    <a:lstStyle/>
                    <a:p>
                      <a:pPr algn="ctr"/>
                      <a:r>
                        <a:rPr lang="es-CO" sz="2200" dirty="0"/>
                        <a:t>F</a:t>
                      </a:r>
                    </a:p>
                  </a:txBody>
                  <a:tcPr marL="109560" marR="109560" marT="54780" marB="54780"/>
                </a:tc>
                <a:tc>
                  <a:txBody>
                    <a:bodyPr/>
                    <a:lstStyle/>
                    <a:p>
                      <a:pPr algn="ctr"/>
                      <a:r>
                        <a:rPr lang="es-CO" sz="2200" dirty="0"/>
                        <a:t>V</a:t>
                      </a:r>
                    </a:p>
                  </a:txBody>
                  <a:tcPr marL="109560" marR="109560" marT="54780" marB="54780"/>
                </a:tc>
                <a:extLst>
                  <a:ext uri="{0D108BD9-81ED-4DB2-BD59-A6C34878D82A}">
                    <a16:rowId xmlns:a16="http://schemas.microsoft.com/office/drawing/2014/main" val="1091879467"/>
                  </a:ext>
                </a:extLst>
              </a:tr>
            </a:tbl>
          </a:graphicData>
        </a:graphic>
      </p:graphicFrame>
      <p:graphicFrame>
        <p:nvGraphicFramePr>
          <p:cNvPr id="27" name="Table 26">
            <a:extLst>
              <a:ext uri="{FF2B5EF4-FFF2-40B4-BE49-F238E27FC236}">
                <a16:creationId xmlns:a16="http://schemas.microsoft.com/office/drawing/2014/main" id="{417D38BD-280E-6473-4D53-B44F066229A5}"/>
              </a:ext>
            </a:extLst>
          </p:cNvPr>
          <p:cNvGraphicFramePr>
            <a:graphicFrameLocks noGrp="1"/>
          </p:cNvGraphicFramePr>
          <p:nvPr>
            <p:extLst>
              <p:ext uri="{D42A27DB-BD31-4B8C-83A1-F6EECF244321}">
                <p14:modId xmlns:p14="http://schemas.microsoft.com/office/powerpoint/2010/main" val="1587134259"/>
              </p:ext>
            </p:extLst>
          </p:nvPr>
        </p:nvGraphicFramePr>
        <p:xfrm>
          <a:off x="8766119" y="3125986"/>
          <a:ext cx="1853258" cy="1334520"/>
        </p:xfrm>
        <a:graphic>
          <a:graphicData uri="http://schemas.openxmlformats.org/drawingml/2006/table">
            <a:tbl>
              <a:tblPr firstRow="1" bandRow="1">
                <a:tableStyleId>{5C22544A-7EE6-4342-B048-85BDC9FD1C3A}</a:tableStyleId>
              </a:tblPr>
              <a:tblGrid>
                <a:gridCol w="926629">
                  <a:extLst>
                    <a:ext uri="{9D8B030D-6E8A-4147-A177-3AD203B41FA5}">
                      <a16:colId xmlns:a16="http://schemas.microsoft.com/office/drawing/2014/main" val="3112463860"/>
                    </a:ext>
                  </a:extLst>
                </a:gridCol>
                <a:gridCol w="926629">
                  <a:extLst>
                    <a:ext uri="{9D8B030D-6E8A-4147-A177-3AD203B41FA5}">
                      <a16:colId xmlns:a16="http://schemas.microsoft.com/office/drawing/2014/main" val="3685825539"/>
                    </a:ext>
                  </a:extLst>
                </a:gridCol>
              </a:tblGrid>
              <a:tr h="444840">
                <a:tc>
                  <a:txBody>
                    <a:bodyPr/>
                    <a:lstStyle/>
                    <a:p>
                      <a:pPr algn="ctr"/>
                      <a:r>
                        <a:rPr lang="es-CO" sz="2100" dirty="0"/>
                        <a:t>P</a:t>
                      </a:r>
                    </a:p>
                  </a:txBody>
                  <a:tcPr marL="108486" marR="108486" marT="54243" marB="54243"/>
                </a:tc>
                <a:tc>
                  <a:txBody>
                    <a:bodyPr/>
                    <a:lstStyle/>
                    <a:p>
                      <a:pPr algn="ctr"/>
                      <a:r>
                        <a:rPr lang="es-CO" sz="2100" dirty="0"/>
                        <a:t>-P</a:t>
                      </a:r>
                    </a:p>
                  </a:txBody>
                  <a:tcPr marL="108486" marR="108486" marT="54243" marB="54243"/>
                </a:tc>
                <a:extLst>
                  <a:ext uri="{0D108BD9-81ED-4DB2-BD59-A6C34878D82A}">
                    <a16:rowId xmlns:a16="http://schemas.microsoft.com/office/drawing/2014/main" val="1747613103"/>
                  </a:ext>
                </a:extLst>
              </a:tr>
              <a:tr h="444840">
                <a:tc>
                  <a:txBody>
                    <a:bodyPr/>
                    <a:lstStyle/>
                    <a:p>
                      <a:pPr algn="ctr"/>
                      <a:r>
                        <a:rPr lang="es-CO" sz="2100" dirty="0"/>
                        <a:t>1</a:t>
                      </a:r>
                    </a:p>
                  </a:txBody>
                  <a:tcPr marL="108486" marR="108486" marT="54243" marB="54243"/>
                </a:tc>
                <a:tc>
                  <a:txBody>
                    <a:bodyPr/>
                    <a:lstStyle/>
                    <a:p>
                      <a:pPr algn="ctr"/>
                      <a:r>
                        <a:rPr lang="es-CO" sz="2100" dirty="0"/>
                        <a:t>0</a:t>
                      </a:r>
                    </a:p>
                  </a:txBody>
                  <a:tcPr marL="108486" marR="108486" marT="54243" marB="54243"/>
                </a:tc>
                <a:extLst>
                  <a:ext uri="{0D108BD9-81ED-4DB2-BD59-A6C34878D82A}">
                    <a16:rowId xmlns:a16="http://schemas.microsoft.com/office/drawing/2014/main" val="2096651605"/>
                  </a:ext>
                </a:extLst>
              </a:tr>
              <a:tr h="444840">
                <a:tc>
                  <a:txBody>
                    <a:bodyPr/>
                    <a:lstStyle/>
                    <a:p>
                      <a:pPr algn="ctr"/>
                      <a:r>
                        <a:rPr lang="es-CO" sz="2100" dirty="0"/>
                        <a:t>0</a:t>
                      </a:r>
                    </a:p>
                  </a:txBody>
                  <a:tcPr marL="108486" marR="108486" marT="54243" marB="54243"/>
                </a:tc>
                <a:tc>
                  <a:txBody>
                    <a:bodyPr/>
                    <a:lstStyle/>
                    <a:p>
                      <a:pPr algn="ctr"/>
                      <a:r>
                        <a:rPr lang="es-CO" sz="2100" dirty="0"/>
                        <a:t>1</a:t>
                      </a:r>
                    </a:p>
                  </a:txBody>
                  <a:tcPr marL="108486" marR="108486" marT="54243" marB="54243"/>
                </a:tc>
                <a:extLst>
                  <a:ext uri="{0D108BD9-81ED-4DB2-BD59-A6C34878D82A}">
                    <a16:rowId xmlns:a16="http://schemas.microsoft.com/office/drawing/2014/main" val="1091879467"/>
                  </a:ext>
                </a:extLst>
              </a:tr>
            </a:tbl>
          </a:graphicData>
        </a:graphic>
      </p:graphicFrame>
    </p:spTree>
    <p:extLst>
      <p:ext uri="{BB962C8B-B14F-4D97-AF65-F5344CB8AC3E}">
        <p14:creationId xmlns:p14="http://schemas.microsoft.com/office/powerpoint/2010/main" val="1942481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xit" presetSubtype="0" fill="hold" grpId="1" nodeType="clickEffect">
                                  <p:stCondLst>
                                    <p:cond delay="0"/>
                                  </p:stCondLst>
                                  <p:childTnLst>
                                    <p:animEffect transition="out" filter="fade">
                                      <p:cBhvr>
                                        <p:cTn id="30" dur="1000"/>
                                        <p:tgtEl>
                                          <p:spTgt spid="2"/>
                                        </p:tgtEl>
                                      </p:cBhvr>
                                    </p:animEffect>
                                    <p:anim calcmode="lin" valueType="num">
                                      <p:cBhvr>
                                        <p:cTn id="31" dur="1000"/>
                                        <p:tgtEl>
                                          <p:spTgt spid="2"/>
                                        </p:tgtEl>
                                        <p:attrNameLst>
                                          <p:attrName>ppt_x</p:attrName>
                                        </p:attrNameLst>
                                      </p:cBhvr>
                                      <p:tavLst>
                                        <p:tav tm="0">
                                          <p:val>
                                            <p:strVal val="ppt_x"/>
                                          </p:val>
                                        </p:tav>
                                        <p:tav tm="100000">
                                          <p:val>
                                            <p:strVal val="ppt_x"/>
                                          </p:val>
                                        </p:tav>
                                      </p:tavLst>
                                    </p:anim>
                                    <p:anim calcmode="lin" valueType="num">
                                      <p:cBhvr>
                                        <p:cTn id="32" dur="1000"/>
                                        <p:tgtEl>
                                          <p:spTgt spid="2"/>
                                        </p:tgtEl>
                                        <p:attrNameLst>
                                          <p:attrName>ppt_y</p:attrName>
                                        </p:attrNameLst>
                                      </p:cBhvr>
                                      <p:tavLst>
                                        <p:tav tm="0">
                                          <p:val>
                                            <p:strVal val="ppt_y"/>
                                          </p:val>
                                        </p:tav>
                                        <p:tav tm="100000">
                                          <p:val>
                                            <p:strVal val="ppt_y+.1"/>
                                          </p:val>
                                        </p:tav>
                                      </p:tavLst>
                                    </p:anim>
                                    <p:set>
                                      <p:cBhvr>
                                        <p:cTn id="33" dur="1" fill="hold">
                                          <p:stCondLst>
                                            <p:cond delay="999"/>
                                          </p:stCondLst>
                                        </p:cTn>
                                        <p:tgtEl>
                                          <p:spTgt spid="2"/>
                                        </p:tgtEl>
                                        <p:attrNameLst>
                                          <p:attrName>style.visibility</p:attrName>
                                        </p:attrNameLst>
                                      </p:cBhvr>
                                      <p:to>
                                        <p:strVal val="hidden"/>
                                      </p:to>
                                    </p:set>
                                  </p:childTnLst>
                                </p:cTn>
                              </p:par>
                              <p:par>
                                <p:cTn id="34" presetID="42" presetClass="exit" presetSubtype="0" fill="hold" nodeType="withEffect">
                                  <p:stCondLst>
                                    <p:cond delay="0"/>
                                  </p:stCondLst>
                                  <p:childTnLst>
                                    <p:animEffect transition="out" filter="fade">
                                      <p:cBhvr>
                                        <p:cTn id="35" dur="1000"/>
                                        <p:tgtEl>
                                          <p:spTgt spid="5"/>
                                        </p:tgtEl>
                                      </p:cBhvr>
                                    </p:animEffect>
                                    <p:anim calcmode="lin" valueType="num">
                                      <p:cBhvr>
                                        <p:cTn id="36" dur="1000"/>
                                        <p:tgtEl>
                                          <p:spTgt spid="5"/>
                                        </p:tgtEl>
                                        <p:attrNameLst>
                                          <p:attrName>ppt_x</p:attrName>
                                        </p:attrNameLst>
                                      </p:cBhvr>
                                      <p:tavLst>
                                        <p:tav tm="0">
                                          <p:val>
                                            <p:strVal val="ppt_x"/>
                                          </p:val>
                                        </p:tav>
                                        <p:tav tm="100000">
                                          <p:val>
                                            <p:strVal val="ppt_x"/>
                                          </p:val>
                                        </p:tav>
                                      </p:tavLst>
                                    </p:anim>
                                    <p:anim calcmode="lin" valueType="num">
                                      <p:cBhvr>
                                        <p:cTn id="37" dur="1000"/>
                                        <p:tgtEl>
                                          <p:spTgt spid="5"/>
                                        </p:tgtEl>
                                        <p:attrNameLst>
                                          <p:attrName>ppt_y</p:attrName>
                                        </p:attrNameLst>
                                      </p:cBhvr>
                                      <p:tavLst>
                                        <p:tav tm="0">
                                          <p:val>
                                            <p:strVal val="ppt_y"/>
                                          </p:val>
                                        </p:tav>
                                        <p:tav tm="100000">
                                          <p:val>
                                            <p:strVal val="ppt_y+.1"/>
                                          </p:val>
                                        </p:tav>
                                      </p:tavLst>
                                    </p:anim>
                                    <p:set>
                                      <p:cBhvr>
                                        <p:cTn id="38" dur="1" fill="hold">
                                          <p:stCondLst>
                                            <p:cond delay="999"/>
                                          </p:stCondLst>
                                        </p:cTn>
                                        <p:tgtEl>
                                          <p:spTgt spid="5"/>
                                        </p:tgtEl>
                                        <p:attrNameLst>
                                          <p:attrName>style.visibility</p:attrName>
                                        </p:attrNameLst>
                                      </p:cBhvr>
                                      <p:to>
                                        <p:strVal val="hidden"/>
                                      </p:to>
                                    </p:set>
                                  </p:childTnLst>
                                </p:cTn>
                              </p:par>
                              <p:par>
                                <p:cTn id="39" presetID="42" presetClass="exit" presetSubtype="0" fill="hold" nodeType="withEffect">
                                  <p:stCondLst>
                                    <p:cond delay="0"/>
                                  </p:stCondLst>
                                  <p:childTnLst>
                                    <p:animEffect transition="out" filter="fade">
                                      <p:cBhvr>
                                        <p:cTn id="40" dur="1000"/>
                                        <p:tgtEl>
                                          <p:spTgt spid="7"/>
                                        </p:tgtEl>
                                      </p:cBhvr>
                                    </p:animEffect>
                                    <p:anim calcmode="lin" valueType="num">
                                      <p:cBhvr>
                                        <p:cTn id="41" dur="1000"/>
                                        <p:tgtEl>
                                          <p:spTgt spid="7"/>
                                        </p:tgtEl>
                                        <p:attrNameLst>
                                          <p:attrName>ppt_x</p:attrName>
                                        </p:attrNameLst>
                                      </p:cBhvr>
                                      <p:tavLst>
                                        <p:tav tm="0">
                                          <p:val>
                                            <p:strVal val="ppt_x"/>
                                          </p:val>
                                        </p:tav>
                                        <p:tav tm="100000">
                                          <p:val>
                                            <p:strVal val="ppt_x"/>
                                          </p:val>
                                        </p:tav>
                                      </p:tavLst>
                                    </p:anim>
                                    <p:anim calcmode="lin" valueType="num">
                                      <p:cBhvr>
                                        <p:cTn id="42" dur="1000"/>
                                        <p:tgtEl>
                                          <p:spTgt spid="7"/>
                                        </p:tgtEl>
                                        <p:attrNameLst>
                                          <p:attrName>ppt_y</p:attrName>
                                        </p:attrNameLst>
                                      </p:cBhvr>
                                      <p:tavLst>
                                        <p:tav tm="0">
                                          <p:val>
                                            <p:strVal val="ppt_y"/>
                                          </p:val>
                                        </p:tav>
                                        <p:tav tm="100000">
                                          <p:val>
                                            <p:strVal val="ppt_y+.1"/>
                                          </p:val>
                                        </p:tav>
                                      </p:tavLst>
                                    </p:anim>
                                    <p:set>
                                      <p:cBhvr>
                                        <p:cTn id="43" dur="1" fill="hold">
                                          <p:stCondLst>
                                            <p:cond delay="999"/>
                                          </p:stCondLst>
                                        </p:cTn>
                                        <p:tgtEl>
                                          <p:spTgt spid="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1000"/>
                                        <p:tgtEl>
                                          <p:spTgt spid="17"/>
                                        </p:tgtEl>
                                      </p:cBhvr>
                                    </p:animEffect>
                                    <p:anim calcmode="lin" valueType="num">
                                      <p:cBhvr>
                                        <p:cTn id="49" dur="1000" fill="hold"/>
                                        <p:tgtEl>
                                          <p:spTgt spid="17"/>
                                        </p:tgtEl>
                                        <p:attrNameLst>
                                          <p:attrName>ppt_x</p:attrName>
                                        </p:attrNameLst>
                                      </p:cBhvr>
                                      <p:tavLst>
                                        <p:tav tm="0">
                                          <p:val>
                                            <p:strVal val="#ppt_x"/>
                                          </p:val>
                                        </p:tav>
                                        <p:tav tm="100000">
                                          <p:val>
                                            <p:strVal val="#ppt_x"/>
                                          </p:val>
                                        </p:tav>
                                      </p:tavLst>
                                    </p:anim>
                                    <p:anim calcmode="lin" valueType="num">
                                      <p:cBhvr>
                                        <p:cTn id="50" dur="1000" fill="hold"/>
                                        <p:tgtEl>
                                          <p:spTgt spid="17"/>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1000"/>
                                        <p:tgtEl>
                                          <p:spTgt spid="18"/>
                                        </p:tgtEl>
                                      </p:cBhvr>
                                    </p:animEffect>
                                    <p:anim calcmode="lin" valueType="num">
                                      <p:cBhvr>
                                        <p:cTn id="54" dur="1000" fill="hold"/>
                                        <p:tgtEl>
                                          <p:spTgt spid="18"/>
                                        </p:tgtEl>
                                        <p:attrNameLst>
                                          <p:attrName>ppt_x</p:attrName>
                                        </p:attrNameLst>
                                      </p:cBhvr>
                                      <p:tavLst>
                                        <p:tav tm="0">
                                          <p:val>
                                            <p:strVal val="#ppt_x"/>
                                          </p:val>
                                        </p:tav>
                                        <p:tav tm="100000">
                                          <p:val>
                                            <p:strVal val="#ppt_x"/>
                                          </p:val>
                                        </p:tav>
                                      </p:tavLst>
                                    </p:anim>
                                    <p:anim calcmode="lin" valueType="num">
                                      <p:cBhvr>
                                        <p:cTn id="55" dur="1000" fill="hold"/>
                                        <p:tgtEl>
                                          <p:spTgt spid="18"/>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anim calcmode="lin" valueType="num">
                                      <p:cBhvr>
                                        <p:cTn id="59" dur="1000" fill="hold"/>
                                        <p:tgtEl>
                                          <p:spTgt spid="13"/>
                                        </p:tgtEl>
                                        <p:attrNameLst>
                                          <p:attrName>ppt_x</p:attrName>
                                        </p:attrNameLst>
                                      </p:cBhvr>
                                      <p:tavLst>
                                        <p:tav tm="0">
                                          <p:val>
                                            <p:strVal val="#ppt_x"/>
                                          </p:val>
                                        </p:tav>
                                        <p:tav tm="100000">
                                          <p:val>
                                            <p:strVal val="#ppt_x"/>
                                          </p:val>
                                        </p:tav>
                                      </p:tavLst>
                                    </p:anim>
                                    <p:anim calcmode="lin" valueType="num">
                                      <p:cBhvr>
                                        <p:cTn id="6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xit" presetSubtype="0" fill="hold" nodeType="clickEffect">
                                  <p:stCondLst>
                                    <p:cond delay="0"/>
                                  </p:stCondLst>
                                  <p:childTnLst>
                                    <p:animEffect transition="out" filter="fade">
                                      <p:cBhvr>
                                        <p:cTn id="64" dur="1000"/>
                                        <p:tgtEl>
                                          <p:spTgt spid="17"/>
                                        </p:tgtEl>
                                      </p:cBhvr>
                                    </p:animEffect>
                                    <p:anim calcmode="lin" valueType="num">
                                      <p:cBhvr>
                                        <p:cTn id="65" dur="1000"/>
                                        <p:tgtEl>
                                          <p:spTgt spid="17"/>
                                        </p:tgtEl>
                                        <p:attrNameLst>
                                          <p:attrName>ppt_x</p:attrName>
                                        </p:attrNameLst>
                                      </p:cBhvr>
                                      <p:tavLst>
                                        <p:tav tm="0">
                                          <p:val>
                                            <p:strVal val="ppt_x"/>
                                          </p:val>
                                        </p:tav>
                                        <p:tav tm="100000">
                                          <p:val>
                                            <p:strVal val="ppt_x"/>
                                          </p:val>
                                        </p:tav>
                                      </p:tavLst>
                                    </p:anim>
                                    <p:anim calcmode="lin" valueType="num">
                                      <p:cBhvr>
                                        <p:cTn id="66" dur="1000"/>
                                        <p:tgtEl>
                                          <p:spTgt spid="17"/>
                                        </p:tgtEl>
                                        <p:attrNameLst>
                                          <p:attrName>ppt_y</p:attrName>
                                        </p:attrNameLst>
                                      </p:cBhvr>
                                      <p:tavLst>
                                        <p:tav tm="0">
                                          <p:val>
                                            <p:strVal val="ppt_y"/>
                                          </p:val>
                                        </p:tav>
                                        <p:tav tm="100000">
                                          <p:val>
                                            <p:strVal val="ppt_y+.1"/>
                                          </p:val>
                                        </p:tav>
                                      </p:tavLst>
                                    </p:anim>
                                    <p:set>
                                      <p:cBhvr>
                                        <p:cTn id="67" dur="1" fill="hold">
                                          <p:stCondLst>
                                            <p:cond delay="999"/>
                                          </p:stCondLst>
                                        </p:cTn>
                                        <p:tgtEl>
                                          <p:spTgt spid="17"/>
                                        </p:tgtEl>
                                        <p:attrNameLst>
                                          <p:attrName>style.visibility</p:attrName>
                                        </p:attrNameLst>
                                      </p:cBhvr>
                                      <p:to>
                                        <p:strVal val="hidden"/>
                                      </p:to>
                                    </p:set>
                                  </p:childTnLst>
                                </p:cTn>
                              </p:par>
                              <p:par>
                                <p:cTn id="68" presetID="42" presetClass="exit" presetSubtype="0" fill="hold" nodeType="withEffect">
                                  <p:stCondLst>
                                    <p:cond delay="0"/>
                                  </p:stCondLst>
                                  <p:childTnLst>
                                    <p:animEffect transition="out" filter="fade">
                                      <p:cBhvr>
                                        <p:cTn id="69" dur="1000"/>
                                        <p:tgtEl>
                                          <p:spTgt spid="18"/>
                                        </p:tgtEl>
                                      </p:cBhvr>
                                    </p:animEffect>
                                    <p:anim calcmode="lin" valueType="num">
                                      <p:cBhvr>
                                        <p:cTn id="70" dur="1000"/>
                                        <p:tgtEl>
                                          <p:spTgt spid="18"/>
                                        </p:tgtEl>
                                        <p:attrNameLst>
                                          <p:attrName>ppt_x</p:attrName>
                                        </p:attrNameLst>
                                      </p:cBhvr>
                                      <p:tavLst>
                                        <p:tav tm="0">
                                          <p:val>
                                            <p:strVal val="ppt_x"/>
                                          </p:val>
                                        </p:tav>
                                        <p:tav tm="100000">
                                          <p:val>
                                            <p:strVal val="ppt_x"/>
                                          </p:val>
                                        </p:tav>
                                      </p:tavLst>
                                    </p:anim>
                                    <p:anim calcmode="lin" valueType="num">
                                      <p:cBhvr>
                                        <p:cTn id="71" dur="1000"/>
                                        <p:tgtEl>
                                          <p:spTgt spid="18"/>
                                        </p:tgtEl>
                                        <p:attrNameLst>
                                          <p:attrName>ppt_y</p:attrName>
                                        </p:attrNameLst>
                                      </p:cBhvr>
                                      <p:tavLst>
                                        <p:tav tm="0">
                                          <p:val>
                                            <p:strVal val="ppt_y"/>
                                          </p:val>
                                        </p:tav>
                                        <p:tav tm="100000">
                                          <p:val>
                                            <p:strVal val="ppt_y+.1"/>
                                          </p:val>
                                        </p:tav>
                                      </p:tavLst>
                                    </p:anim>
                                    <p:set>
                                      <p:cBhvr>
                                        <p:cTn id="72" dur="1" fill="hold">
                                          <p:stCondLst>
                                            <p:cond delay="999"/>
                                          </p:stCondLst>
                                        </p:cTn>
                                        <p:tgtEl>
                                          <p:spTgt spid="18"/>
                                        </p:tgtEl>
                                        <p:attrNameLst>
                                          <p:attrName>style.visibility</p:attrName>
                                        </p:attrNameLst>
                                      </p:cBhvr>
                                      <p:to>
                                        <p:strVal val="hidden"/>
                                      </p:to>
                                    </p:set>
                                  </p:childTnLst>
                                </p:cTn>
                              </p:par>
                              <p:par>
                                <p:cTn id="73" presetID="42" presetClass="exit" presetSubtype="0" fill="hold" grpId="1" nodeType="withEffect">
                                  <p:stCondLst>
                                    <p:cond delay="0"/>
                                  </p:stCondLst>
                                  <p:childTnLst>
                                    <p:animEffect transition="out" filter="fade">
                                      <p:cBhvr>
                                        <p:cTn id="74" dur="1000"/>
                                        <p:tgtEl>
                                          <p:spTgt spid="13"/>
                                        </p:tgtEl>
                                      </p:cBhvr>
                                    </p:animEffect>
                                    <p:anim calcmode="lin" valueType="num">
                                      <p:cBhvr>
                                        <p:cTn id="75" dur="1000"/>
                                        <p:tgtEl>
                                          <p:spTgt spid="13"/>
                                        </p:tgtEl>
                                        <p:attrNameLst>
                                          <p:attrName>ppt_x</p:attrName>
                                        </p:attrNameLst>
                                      </p:cBhvr>
                                      <p:tavLst>
                                        <p:tav tm="0">
                                          <p:val>
                                            <p:strVal val="ppt_x"/>
                                          </p:val>
                                        </p:tav>
                                        <p:tav tm="100000">
                                          <p:val>
                                            <p:strVal val="ppt_x"/>
                                          </p:val>
                                        </p:tav>
                                      </p:tavLst>
                                    </p:anim>
                                    <p:anim calcmode="lin" valueType="num">
                                      <p:cBhvr>
                                        <p:cTn id="76" dur="1000"/>
                                        <p:tgtEl>
                                          <p:spTgt spid="13"/>
                                        </p:tgtEl>
                                        <p:attrNameLst>
                                          <p:attrName>ppt_y</p:attrName>
                                        </p:attrNameLst>
                                      </p:cBhvr>
                                      <p:tavLst>
                                        <p:tav tm="0">
                                          <p:val>
                                            <p:strVal val="ppt_y"/>
                                          </p:val>
                                        </p:tav>
                                        <p:tav tm="100000">
                                          <p:val>
                                            <p:strVal val="ppt_y+.1"/>
                                          </p:val>
                                        </p:tav>
                                      </p:tavLst>
                                    </p:anim>
                                    <p:set>
                                      <p:cBhvr>
                                        <p:cTn id="77" dur="1" fill="hold">
                                          <p:stCondLst>
                                            <p:cond delay="999"/>
                                          </p:stCondLst>
                                        </p:cTn>
                                        <p:tgtEl>
                                          <p:spTgt spid="1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1000"/>
                                        <p:tgtEl>
                                          <p:spTgt spid="20"/>
                                        </p:tgtEl>
                                      </p:cBhvr>
                                    </p:animEffect>
                                    <p:anim calcmode="lin" valueType="num">
                                      <p:cBhvr>
                                        <p:cTn id="83" dur="1000" fill="hold"/>
                                        <p:tgtEl>
                                          <p:spTgt spid="20"/>
                                        </p:tgtEl>
                                        <p:attrNameLst>
                                          <p:attrName>ppt_x</p:attrName>
                                        </p:attrNameLst>
                                      </p:cBhvr>
                                      <p:tavLst>
                                        <p:tav tm="0">
                                          <p:val>
                                            <p:strVal val="#ppt_x"/>
                                          </p:val>
                                        </p:tav>
                                        <p:tav tm="100000">
                                          <p:val>
                                            <p:strVal val="#ppt_x"/>
                                          </p:val>
                                        </p:tav>
                                      </p:tavLst>
                                    </p:anim>
                                    <p:anim calcmode="lin" valueType="num">
                                      <p:cBhvr>
                                        <p:cTn id="84" dur="1000" fill="hold"/>
                                        <p:tgtEl>
                                          <p:spTgt spid="20"/>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26"/>
                                        </p:tgtEl>
                                        <p:attrNameLst>
                                          <p:attrName>style.visibility</p:attrName>
                                        </p:attrNameLst>
                                      </p:cBhvr>
                                      <p:to>
                                        <p:strVal val="visible"/>
                                      </p:to>
                                    </p:set>
                                    <p:animEffect transition="in" filter="fade">
                                      <p:cBhvr>
                                        <p:cTn id="87" dur="1000"/>
                                        <p:tgtEl>
                                          <p:spTgt spid="26"/>
                                        </p:tgtEl>
                                      </p:cBhvr>
                                    </p:animEffect>
                                    <p:anim calcmode="lin" valueType="num">
                                      <p:cBhvr>
                                        <p:cTn id="88" dur="1000" fill="hold"/>
                                        <p:tgtEl>
                                          <p:spTgt spid="26"/>
                                        </p:tgtEl>
                                        <p:attrNameLst>
                                          <p:attrName>ppt_x</p:attrName>
                                        </p:attrNameLst>
                                      </p:cBhvr>
                                      <p:tavLst>
                                        <p:tav tm="0">
                                          <p:val>
                                            <p:strVal val="#ppt_x"/>
                                          </p:val>
                                        </p:tav>
                                        <p:tav tm="100000">
                                          <p:val>
                                            <p:strVal val="#ppt_x"/>
                                          </p:val>
                                        </p:tav>
                                      </p:tavLst>
                                    </p:anim>
                                    <p:anim calcmode="lin" valueType="num">
                                      <p:cBhvr>
                                        <p:cTn id="89" dur="1000" fill="hold"/>
                                        <p:tgtEl>
                                          <p:spTgt spid="26"/>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1000"/>
                                        <p:tgtEl>
                                          <p:spTgt spid="27"/>
                                        </p:tgtEl>
                                      </p:cBhvr>
                                    </p:animEffect>
                                    <p:anim calcmode="lin" valueType="num">
                                      <p:cBhvr>
                                        <p:cTn id="93" dur="1000" fill="hold"/>
                                        <p:tgtEl>
                                          <p:spTgt spid="27"/>
                                        </p:tgtEl>
                                        <p:attrNameLst>
                                          <p:attrName>ppt_x</p:attrName>
                                        </p:attrNameLst>
                                      </p:cBhvr>
                                      <p:tavLst>
                                        <p:tav tm="0">
                                          <p:val>
                                            <p:strVal val="#ppt_x"/>
                                          </p:val>
                                        </p:tav>
                                        <p:tav tm="100000">
                                          <p:val>
                                            <p:strVal val="#ppt_x"/>
                                          </p:val>
                                        </p:tav>
                                      </p:tavLst>
                                    </p:anim>
                                    <p:anim calcmode="lin" valueType="num">
                                      <p:cBhvr>
                                        <p:cTn id="9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6" grpId="0"/>
      <p:bldP spid="13" grpId="0"/>
      <p:bldP spid="13" grpId="1"/>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332798"/>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CO" sz="1800" b="1" dirty="0">
                <a:solidFill>
                  <a:schemeClr val="bg1"/>
                </a:solidFill>
                <a:latin typeface="Work Sans Light" pitchFamily="2" charset="77"/>
              </a:rPr>
              <a:t>Ejercicio de lógica proposicional</a:t>
            </a:r>
            <a:endParaRPr lang="es-ES" sz="1800" b="1" dirty="0">
              <a:solidFill>
                <a:schemeClr val="bg1"/>
              </a:solidFill>
              <a:latin typeface="Work Sans Light" pitchFamily="2" charset="77"/>
            </a:endParaRP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CuadroTexto 1">
            <a:extLst>
              <a:ext uri="{FF2B5EF4-FFF2-40B4-BE49-F238E27FC236}">
                <a16:creationId xmlns:a16="http://schemas.microsoft.com/office/drawing/2014/main" id="{9B7B0FA3-AFBF-EB0C-0F73-633D3C6CA0A1}"/>
              </a:ext>
            </a:extLst>
          </p:cNvPr>
          <p:cNvSpPr txBox="1"/>
          <p:nvPr/>
        </p:nvSpPr>
        <p:spPr>
          <a:xfrm>
            <a:off x="456236" y="1611199"/>
            <a:ext cx="4892124" cy="584775"/>
          </a:xfrm>
          <a:prstGeom prst="rect">
            <a:avLst/>
          </a:prstGeom>
          <a:solidFill>
            <a:schemeClr val="accent6">
              <a:lumMod val="40000"/>
              <a:lumOff val="60000"/>
            </a:schemeClr>
          </a:solidFill>
        </p:spPr>
        <p:txBody>
          <a:bodyPr wrap="square">
            <a:spAutoFit/>
          </a:bodyPr>
          <a:lstStyle/>
          <a:p>
            <a:pPr fontAlgn="base"/>
            <a:r>
              <a:rPr lang="es-CO" sz="1600" b="1" dirty="0">
                <a:latin typeface="Work Sans Light" pitchFamily="2" charset="77"/>
              </a:rPr>
              <a:t>1. Identificar el problema: </a:t>
            </a:r>
            <a:r>
              <a:rPr lang="es-CO" sz="1600" dirty="0">
                <a:latin typeface="Work Sans Light" pitchFamily="2" charset="77"/>
              </a:rPr>
              <a:t>Se necesita personal femenino que sepa Microsoft Office o Gsuite.</a:t>
            </a:r>
            <a:endParaRPr lang="es-ES" sz="1600" dirty="0">
              <a:latin typeface="Work Sans Light" pitchFamily="2" charset="77"/>
            </a:endParaRPr>
          </a:p>
        </p:txBody>
      </p:sp>
      <p:graphicFrame>
        <p:nvGraphicFramePr>
          <p:cNvPr id="5" name="Table 6">
            <a:extLst>
              <a:ext uri="{FF2B5EF4-FFF2-40B4-BE49-F238E27FC236}">
                <a16:creationId xmlns:a16="http://schemas.microsoft.com/office/drawing/2014/main" id="{154FBBCA-337C-2063-433D-5F15FEB80CA1}"/>
              </a:ext>
            </a:extLst>
          </p:cNvPr>
          <p:cNvGraphicFramePr>
            <a:graphicFrameLocks noGrp="1"/>
          </p:cNvGraphicFramePr>
          <p:nvPr>
            <p:extLst>
              <p:ext uri="{D42A27DB-BD31-4B8C-83A1-F6EECF244321}">
                <p14:modId xmlns:p14="http://schemas.microsoft.com/office/powerpoint/2010/main" val="747614382"/>
              </p:ext>
            </p:extLst>
          </p:nvPr>
        </p:nvGraphicFramePr>
        <p:xfrm>
          <a:off x="6294783" y="3814150"/>
          <a:ext cx="5440980" cy="1778848"/>
        </p:xfrm>
        <a:graphic>
          <a:graphicData uri="http://schemas.openxmlformats.org/drawingml/2006/table">
            <a:tbl>
              <a:tblPr firstRow="1" bandRow="1">
                <a:tableStyleId>{5C22544A-7EE6-4342-B048-85BDC9FD1C3A}</a:tableStyleId>
              </a:tblPr>
              <a:tblGrid>
                <a:gridCol w="1506675">
                  <a:extLst>
                    <a:ext uri="{9D8B030D-6E8A-4147-A177-3AD203B41FA5}">
                      <a16:colId xmlns:a16="http://schemas.microsoft.com/office/drawing/2014/main" val="984273136"/>
                    </a:ext>
                  </a:extLst>
                </a:gridCol>
                <a:gridCol w="950933">
                  <a:extLst>
                    <a:ext uri="{9D8B030D-6E8A-4147-A177-3AD203B41FA5}">
                      <a16:colId xmlns:a16="http://schemas.microsoft.com/office/drawing/2014/main" val="3112463860"/>
                    </a:ext>
                  </a:extLst>
                </a:gridCol>
                <a:gridCol w="1556074">
                  <a:extLst>
                    <a:ext uri="{9D8B030D-6E8A-4147-A177-3AD203B41FA5}">
                      <a16:colId xmlns:a16="http://schemas.microsoft.com/office/drawing/2014/main" val="3685825539"/>
                    </a:ext>
                  </a:extLst>
                </a:gridCol>
                <a:gridCol w="1427298">
                  <a:extLst>
                    <a:ext uri="{9D8B030D-6E8A-4147-A177-3AD203B41FA5}">
                      <a16:colId xmlns:a16="http://schemas.microsoft.com/office/drawing/2014/main" val="4246278710"/>
                    </a:ext>
                  </a:extLst>
                </a:gridCol>
              </a:tblGrid>
              <a:tr h="444328">
                <a:tc>
                  <a:txBody>
                    <a:bodyPr/>
                    <a:lstStyle/>
                    <a:p>
                      <a:pPr algn="ctr"/>
                      <a:r>
                        <a:rPr lang="es-CO" sz="1800" kern="1200" dirty="0">
                          <a:solidFill>
                            <a:schemeClr val="bg1"/>
                          </a:solidFill>
                          <a:latin typeface="Work Sans Light" pitchFamily="2" charset="77"/>
                          <a:ea typeface="+mn-ea"/>
                          <a:cs typeface="+mn-cs"/>
                        </a:rPr>
                        <a:t>Nombre</a:t>
                      </a:r>
                    </a:p>
                  </a:txBody>
                  <a:tcPr marL="109560" marR="109560" marT="54780" marB="54780"/>
                </a:tc>
                <a:tc>
                  <a:txBody>
                    <a:bodyPr/>
                    <a:lstStyle/>
                    <a:p>
                      <a:pPr algn="ctr"/>
                      <a:r>
                        <a:rPr lang="es-CO" sz="1800" kern="1200" dirty="0">
                          <a:solidFill>
                            <a:schemeClr val="bg1"/>
                          </a:solidFill>
                          <a:latin typeface="Work Sans Light" pitchFamily="2" charset="77"/>
                          <a:ea typeface="+mn-ea"/>
                          <a:cs typeface="+mn-cs"/>
                        </a:rPr>
                        <a:t>p</a:t>
                      </a:r>
                    </a:p>
                  </a:txBody>
                  <a:tcPr marL="109560" marR="109560" marT="54780" marB="54780"/>
                </a:tc>
                <a:tc>
                  <a:txBody>
                    <a:bodyPr/>
                    <a:lstStyle/>
                    <a:p>
                      <a:pPr algn="ctr"/>
                      <a:r>
                        <a:rPr lang="es-CO" sz="1800" kern="1200" dirty="0">
                          <a:solidFill>
                            <a:schemeClr val="bg1"/>
                          </a:solidFill>
                          <a:latin typeface="Work Sans Light" pitchFamily="2" charset="77"/>
                          <a:ea typeface="+mn-ea"/>
                          <a:cs typeface="+mn-cs"/>
                        </a:rPr>
                        <a:t>q V r</a:t>
                      </a:r>
                    </a:p>
                  </a:txBody>
                  <a:tcPr marL="109560" marR="109560" marT="54780" marB="54780"/>
                </a:tc>
                <a:tc>
                  <a:txBody>
                    <a:bodyPr/>
                    <a:lstStyle/>
                    <a:p>
                      <a:pPr marL="0" indent="0" algn="ctr" fontAlgn="base">
                        <a:buFont typeface="Arial" panose="020B0604020202020204" pitchFamily="34" charset="0"/>
                        <a:buNone/>
                      </a:pPr>
                      <a:r>
                        <a:rPr lang="es-CO" sz="1800" kern="1200" dirty="0">
                          <a:solidFill>
                            <a:schemeClr val="bg1"/>
                          </a:solidFill>
                          <a:latin typeface="Work Sans Light" pitchFamily="2" charset="77"/>
                          <a:ea typeface="+mn-ea"/>
                          <a:cs typeface="+mn-cs"/>
                        </a:rPr>
                        <a:t>p ∧ (q V r)</a:t>
                      </a:r>
                    </a:p>
                  </a:txBody>
                  <a:tcPr marL="109560" marR="109560" marT="54780" marB="54780"/>
                </a:tc>
                <a:extLst>
                  <a:ext uri="{0D108BD9-81ED-4DB2-BD59-A6C34878D82A}">
                    <a16:rowId xmlns:a16="http://schemas.microsoft.com/office/drawing/2014/main" val="1747613103"/>
                  </a:ext>
                </a:extLst>
              </a:tr>
              <a:tr h="444328">
                <a:tc>
                  <a:txBody>
                    <a:bodyPr/>
                    <a:lstStyle/>
                    <a:p>
                      <a:pPr algn="ctr"/>
                      <a:r>
                        <a:rPr lang="es-CO" sz="1600" b="1" kern="1200" dirty="0">
                          <a:solidFill>
                            <a:schemeClr val="tx1"/>
                          </a:solidFill>
                          <a:latin typeface="Work Sans Light" pitchFamily="2" charset="77"/>
                          <a:ea typeface="+mn-ea"/>
                          <a:cs typeface="+mn-cs"/>
                        </a:rPr>
                        <a:t>Juan</a:t>
                      </a:r>
                    </a:p>
                  </a:txBody>
                  <a:tcPr marL="109560" marR="109560" marT="54780" marB="54780"/>
                </a:tc>
                <a:tc>
                  <a:txBody>
                    <a:bodyPr/>
                    <a:lstStyle/>
                    <a:p>
                      <a:pPr algn="ctr"/>
                      <a:endParaRPr lang="es-CO" sz="2200" dirty="0"/>
                    </a:p>
                  </a:txBody>
                  <a:tcPr marL="109560" marR="109560" marT="54780" marB="54780"/>
                </a:tc>
                <a:tc>
                  <a:txBody>
                    <a:bodyPr/>
                    <a:lstStyle/>
                    <a:p>
                      <a:pPr algn="ctr"/>
                      <a:endParaRPr lang="es-CO" sz="2200" dirty="0"/>
                    </a:p>
                  </a:txBody>
                  <a:tcPr marL="109560" marR="109560" marT="54780" marB="54780"/>
                </a:tc>
                <a:tc>
                  <a:txBody>
                    <a:bodyPr/>
                    <a:lstStyle/>
                    <a:p>
                      <a:pPr algn="ctr"/>
                      <a:endParaRPr lang="es-CO" sz="2200" dirty="0"/>
                    </a:p>
                  </a:txBody>
                  <a:tcPr marL="109560" marR="109560" marT="54780" marB="54780"/>
                </a:tc>
                <a:extLst>
                  <a:ext uri="{0D108BD9-81ED-4DB2-BD59-A6C34878D82A}">
                    <a16:rowId xmlns:a16="http://schemas.microsoft.com/office/drawing/2014/main" val="2096651605"/>
                  </a:ext>
                </a:extLst>
              </a:tr>
              <a:tr h="444328">
                <a:tc>
                  <a:txBody>
                    <a:bodyPr/>
                    <a:lstStyle/>
                    <a:p>
                      <a:pPr algn="ctr"/>
                      <a:r>
                        <a:rPr lang="es-CO" sz="1600" b="1" kern="1200" dirty="0">
                          <a:solidFill>
                            <a:schemeClr val="tx1"/>
                          </a:solidFill>
                          <a:latin typeface="Work Sans Light" pitchFamily="2" charset="77"/>
                          <a:ea typeface="+mn-ea"/>
                          <a:cs typeface="+mn-cs"/>
                        </a:rPr>
                        <a:t>Martha</a:t>
                      </a:r>
                    </a:p>
                  </a:txBody>
                  <a:tcPr marL="109560" marR="109560" marT="54780" marB="54780"/>
                </a:tc>
                <a:tc>
                  <a:txBody>
                    <a:bodyPr/>
                    <a:lstStyle/>
                    <a:p>
                      <a:pPr algn="ctr"/>
                      <a:endParaRPr lang="es-CO" sz="2200" dirty="0"/>
                    </a:p>
                  </a:txBody>
                  <a:tcPr marL="109560" marR="109560" marT="54780" marB="54780"/>
                </a:tc>
                <a:tc>
                  <a:txBody>
                    <a:bodyPr/>
                    <a:lstStyle/>
                    <a:p>
                      <a:pPr algn="ctr"/>
                      <a:endParaRPr lang="es-CO" sz="2200" dirty="0"/>
                    </a:p>
                  </a:txBody>
                  <a:tcPr marL="109560" marR="109560" marT="54780" marB="54780"/>
                </a:tc>
                <a:tc>
                  <a:txBody>
                    <a:bodyPr/>
                    <a:lstStyle/>
                    <a:p>
                      <a:pPr algn="ctr"/>
                      <a:endParaRPr lang="es-CO" sz="2200" dirty="0"/>
                    </a:p>
                  </a:txBody>
                  <a:tcPr marL="109560" marR="109560" marT="54780" marB="54780"/>
                </a:tc>
                <a:extLst>
                  <a:ext uri="{0D108BD9-81ED-4DB2-BD59-A6C34878D82A}">
                    <a16:rowId xmlns:a16="http://schemas.microsoft.com/office/drawing/2014/main" val="1091879467"/>
                  </a:ext>
                </a:extLst>
              </a:tr>
              <a:tr h="4443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1600" b="1" kern="1200" dirty="0">
                          <a:solidFill>
                            <a:schemeClr val="tx1"/>
                          </a:solidFill>
                          <a:latin typeface="Work Sans Light" pitchFamily="2" charset="77"/>
                          <a:ea typeface="+mn-ea"/>
                          <a:cs typeface="+mn-cs"/>
                        </a:rPr>
                        <a:t>Natalia</a:t>
                      </a:r>
                    </a:p>
                  </a:txBody>
                  <a:tcPr marL="109560" marR="109560" marT="54780" marB="54780"/>
                </a:tc>
                <a:tc>
                  <a:txBody>
                    <a:bodyPr/>
                    <a:lstStyle/>
                    <a:p>
                      <a:pPr algn="ctr"/>
                      <a:endParaRPr lang="es-CO" sz="2200" dirty="0"/>
                    </a:p>
                  </a:txBody>
                  <a:tcPr marL="109560" marR="109560" marT="54780" marB="54780"/>
                </a:tc>
                <a:tc>
                  <a:txBody>
                    <a:bodyPr/>
                    <a:lstStyle/>
                    <a:p>
                      <a:pPr algn="ctr"/>
                      <a:endParaRPr lang="es-CO" sz="2200" dirty="0"/>
                    </a:p>
                  </a:txBody>
                  <a:tcPr marL="109560" marR="109560" marT="54780" marB="54780"/>
                </a:tc>
                <a:tc>
                  <a:txBody>
                    <a:bodyPr/>
                    <a:lstStyle/>
                    <a:p>
                      <a:pPr algn="ctr"/>
                      <a:endParaRPr lang="es-CO" sz="2200" dirty="0"/>
                    </a:p>
                  </a:txBody>
                  <a:tcPr marL="109560" marR="109560" marT="54780" marB="54780"/>
                </a:tc>
                <a:extLst>
                  <a:ext uri="{0D108BD9-81ED-4DB2-BD59-A6C34878D82A}">
                    <a16:rowId xmlns:a16="http://schemas.microsoft.com/office/drawing/2014/main" val="2792239437"/>
                  </a:ext>
                </a:extLst>
              </a:tr>
            </a:tbl>
          </a:graphicData>
        </a:graphic>
      </p:graphicFrame>
      <p:sp>
        <p:nvSpPr>
          <p:cNvPr id="8" name="CuadroTexto 1">
            <a:extLst>
              <a:ext uri="{FF2B5EF4-FFF2-40B4-BE49-F238E27FC236}">
                <a16:creationId xmlns:a16="http://schemas.microsoft.com/office/drawing/2014/main" id="{C1FE0958-145C-B6F6-98FA-027DFC8B16AD}"/>
              </a:ext>
            </a:extLst>
          </p:cNvPr>
          <p:cNvSpPr txBox="1"/>
          <p:nvPr/>
        </p:nvSpPr>
        <p:spPr>
          <a:xfrm>
            <a:off x="456236" y="2434928"/>
            <a:ext cx="4892124" cy="1569660"/>
          </a:xfrm>
          <a:prstGeom prst="rect">
            <a:avLst/>
          </a:prstGeom>
          <a:solidFill>
            <a:schemeClr val="accent6">
              <a:lumMod val="40000"/>
              <a:lumOff val="60000"/>
            </a:schemeClr>
          </a:solidFill>
        </p:spPr>
        <p:txBody>
          <a:bodyPr wrap="square">
            <a:spAutoFit/>
          </a:bodyPr>
          <a:lstStyle/>
          <a:p>
            <a:pPr fontAlgn="base"/>
            <a:r>
              <a:rPr lang="es-CO" sz="1600" b="1" dirty="0">
                <a:latin typeface="Work Sans Light" pitchFamily="2" charset="77"/>
              </a:rPr>
              <a:t>2. Descomponer el enunciado: </a:t>
            </a:r>
            <a:r>
              <a:rPr lang="es-CO" sz="1600" dirty="0">
                <a:latin typeface="Work Sans Light" pitchFamily="2" charset="77"/>
              </a:rPr>
              <a:t>Identificar proposiciones.</a:t>
            </a:r>
          </a:p>
          <a:p>
            <a:pPr fontAlgn="base"/>
            <a:endParaRPr lang="es-CO" sz="1600" dirty="0">
              <a:latin typeface="Work Sans Light" pitchFamily="2" charset="77"/>
            </a:endParaRPr>
          </a:p>
          <a:p>
            <a:pPr marL="285750" indent="-285750" fontAlgn="base">
              <a:buFont typeface="Arial" panose="020B0604020202020204" pitchFamily="34" charset="0"/>
              <a:buChar char="•"/>
            </a:pPr>
            <a:r>
              <a:rPr lang="es-CO" sz="1600" b="1" dirty="0">
                <a:latin typeface="Work Sans Light" pitchFamily="2" charset="77"/>
              </a:rPr>
              <a:t>p: </a:t>
            </a:r>
            <a:r>
              <a:rPr lang="es-CO" sz="1600" dirty="0">
                <a:latin typeface="Work Sans Light" pitchFamily="2" charset="77"/>
              </a:rPr>
              <a:t>es personal femenino.</a:t>
            </a:r>
          </a:p>
          <a:p>
            <a:pPr marL="285750" indent="-285750" fontAlgn="base">
              <a:buFont typeface="Arial" panose="020B0604020202020204" pitchFamily="34" charset="0"/>
              <a:buChar char="•"/>
            </a:pPr>
            <a:r>
              <a:rPr lang="es-CO" sz="1600" b="1" dirty="0">
                <a:latin typeface="Work Sans Light" pitchFamily="2" charset="77"/>
              </a:rPr>
              <a:t>q: </a:t>
            </a:r>
            <a:r>
              <a:rPr lang="es-CO" sz="1600" dirty="0">
                <a:latin typeface="Work Sans Light" pitchFamily="2" charset="77"/>
              </a:rPr>
              <a:t>sabe utilizar el Microsoft Office.</a:t>
            </a:r>
          </a:p>
          <a:p>
            <a:pPr marL="285750" indent="-285750" fontAlgn="base">
              <a:buFont typeface="Arial" panose="020B0604020202020204" pitchFamily="34" charset="0"/>
              <a:buChar char="•"/>
            </a:pPr>
            <a:r>
              <a:rPr lang="es-CO" sz="1600" b="1" dirty="0">
                <a:latin typeface="Work Sans Light" pitchFamily="2" charset="77"/>
              </a:rPr>
              <a:t>r: </a:t>
            </a:r>
            <a:r>
              <a:rPr lang="es-CO" sz="1600" dirty="0">
                <a:latin typeface="Work Sans Light" pitchFamily="2" charset="77"/>
              </a:rPr>
              <a:t>sabe utilizar la suite de Google.</a:t>
            </a:r>
            <a:endParaRPr lang="es-ES" sz="1600" dirty="0">
              <a:latin typeface="Work Sans Light" pitchFamily="2" charset="77"/>
            </a:endParaRPr>
          </a:p>
        </p:txBody>
      </p:sp>
      <p:sp>
        <p:nvSpPr>
          <p:cNvPr id="9" name="CuadroTexto 1">
            <a:extLst>
              <a:ext uri="{FF2B5EF4-FFF2-40B4-BE49-F238E27FC236}">
                <a16:creationId xmlns:a16="http://schemas.microsoft.com/office/drawing/2014/main" id="{7475C36C-0E34-40EE-9419-885FF3CAA8E9}"/>
              </a:ext>
            </a:extLst>
          </p:cNvPr>
          <p:cNvSpPr txBox="1"/>
          <p:nvPr/>
        </p:nvSpPr>
        <p:spPr>
          <a:xfrm>
            <a:off x="456236" y="4187710"/>
            <a:ext cx="4892124" cy="1354217"/>
          </a:xfrm>
          <a:prstGeom prst="rect">
            <a:avLst/>
          </a:prstGeom>
          <a:solidFill>
            <a:schemeClr val="accent6">
              <a:lumMod val="40000"/>
              <a:lumOff val="60000"/>
            </a:schemeClr>
          </a:solidFill>
        </p:spPr>
        <p:txBody>
          <a:bodyPr wrap="square">
            <a:spAutoFit/>
          </a:bodyPr>
          <a:lstStyle/>
          <a:p>
            <a:pPr fontAlgn="base"/>
            <a:r>
              <a:rPr lang="es-CO" sz="1600" b="1" dirty="0">
                <a:latin typeface="Work Sans Light" pitchFamily="2" charset="77"/>
              </a:rPr>
              <a:t>3. Determinar los casos: </a:t>
            </a:r>
            <a:r>
              <a:rPr lang="es-ES" sz="1600" dirty="0">
                <a:latin typeface="Work Sans Light" pitchFamily="2" charset="77"/>
              </a:rPr>
              <a:t>Determinar las relaciones lógicas de acuerdo con lo planteado en </a:t>
            </a:r>
            <a:r>
              <a:rPr lang="es-CO" sz="1600" dirty="0">
                <a:latin typeface="Work Sans Light" pitchFamily="2" charset="77"/>
              </a:rPr>
              <a:t>las proposiciones.</a:t>
            </a:r>
          </a:p>
          <a:p>
            <a:pPr fontAlgn="base"/>
            <a:endParaRPr lang="es-CO" sz="1600" dirty="0">
              <a:latin typeface="Work Sans Light" pitchFamily="2" charset="77"/>
            </a:endParaRPr>
          </a:p>
          <a:p>
            <a:pPr marL="285750" indent="-285750" fontAlgn="base">
              <a:buFont typeface="Arial" panose="020B0604020202020204" pitchFamily="34" charset="0"/>
              <a:buChar char="•"/>
            </a:pPr>
            <a:r>
              <a:rPr lang="es-CO" sz="1600" b="1" dirty="0">
                <a:latin typeface="Work Sans Light" pitchFamily="2" charset="77"/>
              </a:rPr>
              <a:t>p ∧ (q V r)</a:t>
            </a:r>
          </a:p>
        </p:txBody>
      </p:sp>
      <p:sp>
        <p:nvSpPr>
          <p:cNvPr id="10" name="CuadroTexto 1">
            <a:extLst>
              <a:ext uri="{FF2B5EF4-FFF2-40B4-BE49-F238E27FC236}">
                <a16:creationId xmlns:a16="http://schemas.microsoft.com/office/drawing/2014/main" id="{E0C7869A-9180-D2DF-B842-D24A2940049E}"/>
              </a:ext>
            </a:extLst>
          </p:cNvPr>
          <p:cNvSpPr txBox="1"/>
          <p:nvPr/>
        </p:nvSpPr>
        <p:spPr>
          <a:xfrm>
            <a:off x="456236" y="5730269"/>
            <a:ext cx="4892124" cy="830997"/>
          </a:xfrm>
          <a:prstGeom prst="rect">
            <a:avLst/>
          </a:prstGeom>
          <a:solidFill>
            <a:schemeClr val="accent6">
              <a:lumMod val="40000"/>
              <a:lumOff val="60000"/>
            </a:schemeClr>
          </a:solidFill>
        </p:spPr>
        <p:txBody>
          <a:bodyPr wrap="square">
            <a:spAutoFit/>
          </a:bodyPr>
          <a:lstStyle/>
          <a:p>
            <a:pPr fontAlgn="base"/>
            <a:r>
              <a:rPr lang="es-CO" sz="1600" b="1" dirty="0">
                <a:latin typeface="Work Sans Light" pitchFamily="2" charset="77"/>
              </a:rPr>
              <a:t>4. Crear la tabla de la verdad: </a:t>
            </a:r>
            <a:r>
              <a:rPr lang="es-ES" sz="1600" dirty="0">
                <a:latin typeface="Work Sans Light" pitchFamily="2" charset="77"/>
              </a:rPr>
              <a:t>aplicar la lógica proposicional para elegir las personas que cumplan con los requisitos exigidos.</a:t>
            </a:r>
            <a:endParaRPr lang="es-CO" sz="1600" dirty="0">
              <a:latin typeface="Work Sans Light" pitchFamily="2" charset="77"/>
            </a:endParaRPr>
          </a:p>
        </p:txBody>
      </p:sp>
      <p:sp>
        <p:nvSpPr>
          <p:cNvPr id="12" name="TextBox 11">
            <a:extLst>
              <a:ext uri="{FF2B5EF4-FFF2-40B4-BE49-F238E27FC236}">
                <a16:creationId xmlns:a16="http://schemas.microsoft.com/office/drawing/2014/main" id="{BD639D87-BBF6-5413-A702-41383F50FA68}"/>
              </a:ext>
            </a:extLst>
          </p:cNvPr>
          <p:cNvSpPr txBox="1"/>
          <p:nvPr/>
        </p:nvSpPr>
        <p:spPr>
          <a:xfrm>
            <a:off x="6655595" y="2434928"/>
            <a:ext cx="4719356" cy="830997"/>
          </a:xfrm>
          <a:prstGeom prst="rect">
            <a:avLst/>
          </a:prstGeom>
          <a:noFill/>
        </p:spPr>
        <p:txBody>
          <a:bodyPr wrap="square">
            <a:spAutoFit/>
          </a:bodyPr>
          <a:lstStyle/>
          <a:p>
            <a:pPr algn="just"/>
            <a:r>
              <a:rPr lang="es-CO" sz="1600" b="1" dirty="0">
                <a:latin typeface="Work Sans Light" pitchFamily="2" charset="77"/>
              </a:rPr>
              <a:t>Juan sabe utilizar Microsoft Office y Gsuite, Martha sabe utilizar Gsuite, Natalia sabe utilizar Gsuite y Microsoft Office.</a:t>
            </a:r>
          </a:p>
        </p:txBody>
      </p:sp>
      <p:sp>
        <p:nvSpPr>
          <p:cNvPr id="14" name="TextBox 13">
            <a:extLst>
              <a:ext uri="{FF2B5EF4-FFF2-40B4-BE49-F238E27FC236}">
                <a16:creationId xmlns:a16="http://schemas.microsoft.com/office/drawing/2014/main" id="{9ECA6779-EBB6-C372-0E4C-3376F37EED9D}"/>
              </a:ext>
            </a:extLst>
          </p:cNvPr>
          <p:cNvSpPr txBox="1"/>
          <p:nvPr/>
        </p:nvSpPr>
        <p:spPr>
          <a:xfrm>
            <a:off x="8087189" y="4311420"/>
            <a:ext cx="3458817" cy="338554"/>
          </a:xfrm>
          <a:prstGeom prst="rect">
            <a:avLst/>
          </a:prstGeom>
          <a:noFill/>
        </p:spPr>
        <p:txBody>
          <a:bodyPr wrap="square">
            <a:spAutoFit/>
          </a:bodyPr>
          <a:lstStyle/>
          <a:p>
            <a:pPr fontAlgn="base"/>
            <a:r>
              <a:rPr lang="es-ES" sz="1600" dirty="0">
                <a:latin typeface="Work Sans Light" pitchFamily="2" charset="77"/>
              </a:rPr>
              <a:t>F                   V                   F</a:t>
            </a:r>
          </a:p>
        </p:txBody>
      </p:sp>
      <p:sp>
        <p:nvSpPr>
          <p:cNvPr id="15" name="TextBox 14">
            <a:extLst>
              <a:ext uri="{FF2B5EF4-FFF2-40B4-BE49-F238E27FC236}">
                <a16:creationId xmlns:a16="http://schemas.microsoft.com/office/drawing/2014/main" id="{911D20E9-6031-5F6B-90B0-E3A5C25EF4D0}"/>
              </a:ext>
            </a:extLst>
          </p:cNvPr>
          <p:cNvSpPr txBox="1"/>
          <p:nvPr/>
        </p:nvSpPr>
        <p:spPr>
          <a:xfrm>
            <a:off x="8087188" y="4756582"/>
            <a:ext cx="3458817" cy="338554"/>
          </a:xfrm>
          <a:prstGeom prst="rect">
            <a:avLst/>
          </a:prstGeom>
          <a:noFill/>
        </p:spPr>
        <p:txBody>
          <a:bodyPr wrap="square">
            <a:spAutoFit/>
          </a:bodyPr>
          <a:lstStyle/>
          <a:p>
            <a:pPr fontAlgn="base"/>
            <a:r>
              <a:rPr lang="es-ES" sz="1600" dirty="0">
                <a:latin typeface="Work Sans Light" pitchFamily="2" charset="77"/>
              </a:rPr>
              <a:t>V                   </a:t>
            </a:r>
            <a:r>
              <a:rPr lang="es-ES" sz="1600" dirty="0" err="1">
                <a:latin typeface="Work Sans Light" pitchFamily="2" charset="77"/>
              </a:rPr>
              <a:t>V</a:t>
            </a:r>
            <a:r>
              <a:rPr lang="es-ES" sz="1600" dirty="0">
                <a:latin typeface="Work Sans Light" pitchFamily="2" charset="77"/>
              </a:rPr>
              <a:t>                   V</a:t>
            </a:r>
          </a:p>
        </p:txBody>
      </p:sp>
      <p:sp>
        <p:nvSpPr>
          <p:cNvPr id="16" name="TextBox 15">
            <a:extLst>
              <a:ext uri="{FF2B5EF4-FFF2-40B4-BE49-F238E27FC236}">
                <a16:creationId xmlns:a16="http://schemas.microsoft.com/office/drawing/2014/main" id="{71B28751-06EC-08EE-7CDF-7086E48214FF}"/>
              </a:ext>
            </a:extLst>
          </p:cNvPr>
          <p:cNvSpPr txBox="1"/>
          <p:nvPr/>
        </p:nvSpPr>
        <p:spPr>
          <a:xfrm>
            <a:off x="8087187" y="5198199"/>
            <a:ext cx="3458817" cy="338554"/>
          </a:xfrm>
          <a:prstGeom prst="rect">
            <a:avLst/>
          </a:prstGeom>
          <a:noFill/>
        </p:spPr>
        <p:txBody>
          <a:bodyPr wrap="square">
            <a:spAutoFit/>
          </a:bodyPr>
          <a:lstStyle/>
          <a:p>
            <a:pPr fontAlgn="base"/>
            <a:r>
              <a:rPr lang="es-ES" sz="1600" dirty="0">
                <a:latin typeface="Work Sans Light" pitchFamily="2" charset="77"/>
              </a:rPr>
              <a:t>V                   V                   V</a:t>
            </a:r>
          </a:p>
        </p:txBody>
      </p:sp>
    </p:spTree>
    <p:extLst>
      <p:ext uri="{BB962C8B-B14F-4D97-AF65-F5344CB8AC3E}">
        <p14:creationId xmlns:p14="http://schemas.microsoft.com/office/powerpoint/2010/main" val="2327414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2" grpId="0"/>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221246"/>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just">
              <a:lnSpc>
                <a:spcPct val="150000"/>
              </a:lnSpc>
              <a:buFont typeface="+mj-lt"/>
              <a:buAutoNum type="arabicPeriod"/>
            </a:pPr>
            <a:r>
              <a:rPr lang="es-ES" sz="1800" b="1" dirty="0">
                <a:solidFill>
                  <a:schemeClr val="bg1"/>
                </a:solidFill>
                <a:latin typeface="Work Sans Light" pitchFamily="2" charset="77"/>
              </a:rPr>
              <a:t>Evidencia de conocimiento: GA3-220501093-AA1-EV01 bases conceptuales de lógica proposicional.</a:t>
            </a:r>
          </a:p>
        </p:txBody>
      </p:sp>
      <p:sp>
        <p:nvSpPr>
          <p:cNvPr id="2" name="CuadroTexto 1">
            <a:extLst>
              <a:ext uri="{FF2B5EF4-FFF2-40B4-BE49-F238E27FC236}">
                <a16:creationId xmlns:a16="http://schemas.microsoft.com/office/drawing/2014/main" id="{05C91B34-A9AF-EE63-68C6-548DAAE8E80E}"/>
              </a:ext>
            </a:extLst>
          </p:cNvPr>
          <p:cNvSpPr txBox="1"/>
          <p:nvPr/>
        </p:nvSpPr>
        <p:spPr>
          <a:xfrm>
            <a:off x="456236" y="1198338"/>
            <a:ext cx="11485555" cy="5591018"/>
          </a:xfrm>
          <a:prstGeom prst="rect">
            <a:avLst/>
          </a:prstGeom>
          <a:noFill/>
        </p:spPr>
        <p:txBody>
          <a:bodyPr wrap="square">
            <a:spAutoFit/>
          </a:bodyPr>
          <a:lstStyle/>
          <a:p>
            <a:pPr algn="just">
              <a:lnSpc>
                <a:spcPct val="150000"/>
              </a:lnSpc>
            </a:pPr>
            <a:r>
              <a:rPr lang="es-ES" sz="1600" dirty="0">
                <a:latin typeface="Work Sans Light" pitchFamily="2" charset="77"/>
              </a:rPr>
              <a:t>Teniendo en cuenta los conceptos desarrollados durante el componente formativo, construir un documento donde se dé solución a los siguientes problemas de lógica proposicional registrando cada uno de los pasos elaborados para llegar a la solución: </a:t>
            </a:r>
          </a:p>
          <a:p>
            <a:pPr marL="285750" indent="-285750" algn="just">
              <a:lnSpc>
                <a:spcPct val="150000"/>
              </a:lnSpc>
              <a:buFont typeface="Arial" panose="020B0604020202020204" pitchFamily="34" charset="0"/>
              <a:buChar char="•"/>
            </a:pPr>
            <a:r>
              <a:rPr lang="es-ES" sz="1600" dirty="0">
                <a:latin typeface="Work Sans Light" pitchFamily="2" charset="77"/>
              </a:rPr>
              <a:t>(2 * 5) &lt; 8 OR ((4 * 6) &gt; (2 * 5) ) </a:t>
            </a:r>
          </a:p>
          <a:p>
            <a:pPr marL="285750" indent="-285750" algn="just">
              <a:lnSpc>
                <a:spcPct val="150000"/>
              </a:lnSpc>
              <a:buFont typeface="Arial" panose="020B0604020202020204" pitchFamily="34" charset="0"/>
              <a:buChar char="•"/>
            </a:pPr>
            <a:r>
              <a:rPr lang="es-ES" sz="1600" dirty="0">
                <a:latin typeface="Work Sans Light" pitchFamily="2" charset="77"/>
              </a:rPr>
              <a:t>(4+ 5) &lt; 3 AND ( ( 5 * 5 ) + (4 + 25 &lt; 3) ) </a:t>
            </a:r>
          </a:p>
          <a:p>
            <a:pPr algn="just">
              <a:lnSpc>
                <a:spcPct val="150000"/>
              </a:lnSpc>
            </a:pPr>
            <a:endParaRPr lang="es-ES" sz="1600" dirty="0">
              <a:latin typeface="Work Sans Light" pitchFamily="2" charset="77"/>
            </a:endParaRPr>
          </a:p>
          <a:p>
            <a:pPr algn="just">
              <a:lnSpc>
                <a:spcPct val="150000"/>
              </a:lnSpc>
            </a:pPr>
            <a:r>
              <a:rPr lang="es-ES" sz="1600" dirty="0">
                <a:latin typeface="Work Sans Light" pitchFamily="2" charset="77"/>
              </a:rPr>
              <a:t>Construir la tabla de verdad para las siguientes expresiones: </a:t>
            </a:r>
          </a:p>
          <a:p>
            <a:pPr marL="285750" indent="-285750" algn="just">
              <a:lnSpc>
                <a:spcPct val="150000"/>
              </a:lnSpc>
              <a:buFont typeface="Arial" panose="020B0604020202020204" pitchFamily="34" charset="0"/>
              <a:buChar char="•"/>
            </a:pPr>
            <a:r>
              <a:rPr lang="es-ES" sz="1600" dirty="0">
                <a:latin typeface="Work Sans Light" pitchFamily="2" charset="77"/>
              </a:rPr>
              <a:t>( P ∧ Q) .  </a:t>
            </a:r>
          </a:p>
          <a:p>
            <a:pPr marL="285750" indent="-285750" algn="just">
              <a:lnSpc>
                <a:spcPct val="150000"/>
              </a:lnSpc>
              <a:buFont typeface="Arial" panose="020B0604020202020204" pitchFamily="34" charset="0"/>
              <a:buChar char="•"/>
            </a:pPr>
            <a:r>
              <a:rPr lang="es-ES" sz="1600" dirty="0">
                <a:latin typeface="Work Sans Light" pitchFamily="2" charset="77"/>
              </a:rPr>
              <a:t>( P V Q)</a:t>
            </a:r>
          </a:p>
          <a:p>
            <a:pPr algn="just">
              <a:lnSpc>
                <a:spcPct val="150000"/>
              </a:lnSpc>
            </a:pPr>
            <a:endParaRPr lang="es-ES" sz="1600" dirty="0">
              <a:latin typeface="Work Sans Light" pitchFamily="2" charset="77"/>
            </a:endParaRPr>
          </a:p>
          <a:p>
            <a:pPr>
              <a:lnSpc>
                <a:spcPct val="150000"/>
              </a:lnSpc>
            </a:pPr>
            <a:r>
              <a:rPr lang="es-ES" sz="1600" b="1" dirty="0">
                <a:latin typeface="Work Sans Light" pitchFamily="2" charset="77"/>
              </a:rPr>
              <a:t>Lineamientos generales para la entrega de la evidencia: </a:t>
            </a:r>
          </a:p>
          <a:p>
            <a:pPr marL="285750" indent="-285750" algn="just">
              <a:lnSpc>
                <a:spcPct val="150000"/>
              </a:lnSpc>
              <a:buFont typeface="Arial" panose="020B0604020202020204" pitchFamily="34" charset="0"/>
              <a:buChar char="•"/>
            </a:pPr>
            <a:r>
              <a:rPr lang="es-ES" sz="1600" b="1" dirty="0">
                <a:latin typeface="Work Sans Light" pitchFamily="2" charset="77"/>
              </a:rPr>
              <a:t>Productos para entregar</a:t>
            </a:r>
            <a:r>
              <a:rPr lang="es-ES" sz="1600" dirty="0">
                <a:latin typeface="Work Sans Light" pitchFamily="2" charset="77"/>
              </a:rPr>
              <a:t>: Archivo con nombre del estudiante y las soluciones a los ejercicios con el paso a paso.</a:t>
            </a:r>
          </a:p>
          <a:p>
            <a:pPr marL="285750" indent="-285750" algn="just">
              <a:lnSpc>
                <a:spcPct val="150000"/>
              </a:lnSpc>
              <a:buFont typeface="Arial" panose="020B0604020202020204" pitchFamily="34" charset="0"/>
              <a:buChar char="•"/>
            </a:pPr>
            <a:r>
              <a:rPr lang="es-ES" sz="1600" b="1" dirty="0">
                <a:latin typeface="Work Sans Light" pitchFamily="2" charset="77"/>
              </a:rPr>
              <a:t>Formato:</a:t>
            </a:r>
            <a:r>
              <a:rPr lang="es-ES" sz="1600" dirty="0">
                <a:latin typeface="Work Sans Light" pitchFamily="2" charset="77"/>
              </a:rPr>
              <a:t> PDF</a:t>
            </a:r>
          </a:p>
          <a:p>
            <a:pPr marL="285750" indent="-285750" algn="just">
              <a:lnSpc>
                <a:spcPct val="150000"/>
              </a:lnSpc>
              <a:buFont typeface="Arial" panose="020B0604020202020204" pitchFamily="34" charset="0"/>
              <a:buChar char="•"/>
            </a:pPr>
            <a:r>
              <a:rPr lang="es-ES" sz="1600" b="1" dirty="0">
                <a:latin typeface="Work Sans Light" pitchFamily="2" charset="77"/>
              </a:rPr>
              <a:t>Para hacer el envío de la evidencia </a:t>
            </a:r>
            <a:r>
              <a:rPr lang="es-ES" sz="1600" dirty="0">
                <a:latin typeface="Work Sans Light" pitchFamily="2" charset="77"/>
              </a:rPr>
              <a:t>remítase al área de la actividad correspondiente y acceda al espacio</a:t>
            </a:r>
            <a:r>
              <a:rPr lang="es-ES" sz="1600" b="1" dirty="0">
                <a:latin typeface="Work Sans Light" pitchFamily="2" charset="77"/>
              </a:rPr>
              <a:t> </a:t>
            </a:r>
            <a:r>
              <a:rPr lang="es-CO" sz="1600" b="1" dirty="0">
                <a:latin typeface="Work Sans Light" pitchFamily="2" charset="77"/>
              </a:rPr>
              <a:t>bases conceptuales de lógica proposicional GA3-220501093-AA1-EV01</a:t>
            </a:r>
            <a:endParaRPr lang="es-ES" sz="1600" b="1" dirty="0">
              <a:latin typeface="Work Sans Light" pitchFamily="2" charset="77"/>
            </a:endParaRP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042353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A0B04F6-DA67-8975-7424-AAACEE860760}"/>
              </a:ext>
            </a:extLst>
          </p:cNvPr>
          <p:cNvSpPr/>
          <p:nvPr/>
        </p:nvSpPr>
        <p:spPr>
          <a:xfrm>
            <a:off x="0" y="0"/>
            <a:ext cx="12192000" cy="6858000"/>
          </a:xfrm>
          <a:prstGeom prst="rect">
            <a:avLst/>
          </a:prstGeom>
          <a:solidFill>
            <a:srgbClr val="00A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Rectangle 3">
            <a:extLst>
              <a:ext uri="{FF2B5EF4-FFF2-40B4-BE49-F238E27FC236}">
                <a16:creationId xmlns:a16="http://schemas.microsoft.com/office/drawing/2014/main" id="{76FB3CE7-1EA9-6913-C780-749EDBCA9CF2}"/>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BB6F714C-A6B0-54AE-507A-D0700714D94B}"/>
              </a:ext>
            </a:extLst>
          </p:cNvPr>
          <p:cNvSpPr txBox="1">
            <a:spLocks/>
          </p:cNvSpPr>
          <p:nvPr/>
        </p:nvSpPr>
        <p:spPr>
          <a:xfrm>
            <a:off x="3378154" y="2318539"/>
            <a:ext cx="8018392" cy="7642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s-ES" sz="5400" b="1" dirty="0">
                <a:solidFill>
                  <a:prstClr val="white"/>
                </a:solidFill>
                <a:latin typeface="WORK SANS BOLD ROMAN" pitchFamily="2" charset="77"/>
              </a:rPr>
              <a:t>Resolución de algoritmos en pseudocódigo y diagramas de flujo.</a:t>
            </a:r>
            <a:endParaRPr lang="es-CO" sz="5400" b="1" dirty="0">
              <a:solidFill>
                <a:prstClr val="white"/>
              </a:solidFill>
              <a:latin typeface="WORK SANS BOLD ROMAN" pitchFamily="2" charset="77"/>
            </a:endParaRPr>
          </a:p>
        </p:txBody>
      </p:sp>
      <p:cxnSp>
        <p:nvCxnSpPr>
          <p:cNvPr id="9" name="Straight Connector 8">
            <a:extLst>
              <a:ext uri="{FF2B5EF4-FFF2-40B4-BE49-F238E27FC236}">
                <a16:creationId xmlns:a16="http://schemas.microsoft.com/office/drawing/2014/main" id="{E45C8F5A-C864-B874-5A57-087650BA4A6E}"/>
              </a:ext>
            </a:extLst>
          </p:cNvPr>
          <p:cNvCxnSpPr/>
          <p:nvPr/>
        </p:nvCxnSpPr>
        <p:spPr>
          <a:xfrm>
            <a:off x="3008244" y="1964635"/>
            <a:ext cx="0" cy="292873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155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grpId="0" nodeType="clickEffect">
                                  <p:stCondLst>
                                    <p:cond delay="0"/>
                                  </p:stCondLst>
                                  <p:iterate type="lt">
                                    <p:tmPct val="4000"/>
                                  </p:iterate>
                                  <p:childTnLst>
                                    <p:set>
                                      <p:cBhvr override="childStyle">
                                        <p:cTn id="6" dur="500" fill="hold"/>
                                        <p:tgtEl>
                                          <p:spTgt spid="3"/>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221246"/>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Algoritmos</a:t>
            </a:r>
          </a:p>
        </p:txBody>
      </p:sp>
      <p:sp>
        <p:nvSpPr>
          <p:cNvPr id="2" name="CuadroTexto 1">
            <a:extLst>
              <a:ext uri="{FF2B5EF4-FFF2-40B4-BE49-F238E27FC236}">
                <a16:creationId xmlns:a16="http://schemas.microsoft.com/office/drawing/2014/main" id="{05C91B34-A9AF-EE63-68C6-548DAAE8E80E}"/>
              </a:ext>
            </a:extLst>
          </p:cNvPr>
          <p:cNvSpPr txBox="1"/>
          <p:nvPr/>
        </p:nvSpPr>
        <p:spPr>
          <a:xfrm>
            <a:off x="1052584" y="1878776"/>
            <a:ext cx="9973225" cy="420564"/>
          </a:xfrm>
          <a:prstGeom prst="rect">
            <a:avLst/>
          </a:prstGeom>
          <a:noFill/>
        </p:spPr>
        <p:txBody>
          <a:bodyPr wrap="square">
            <a:spAutoFit/>
          </a:bodyPr>
          <a:lstStyle/>
          <a:p>
            <a:pPr algn="just">
              <a:lnSpc>
                <a:spcPct val="150000"/>
              </a:lnSpc>
            </a:pPr>
            <a:r>
              <a:rPr lang="es-ES" sz="1600" b="1" dirty="0">
                <a:latin typeface="Work Sans Light" pitchFamily="2" charset="77"/>
              </a:rPr>
              <a:t>Un algoritmo es la definición de una secuencia lógica de pasos que permiten solucionar un problema. </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Arrow: Pentagon 6">
            <a:extLst>
              <a:ext uri="{FF2B5EF4-FFF2-40B4-BE49-F238E27FC236}">
                <a16:creationId xmlns:a16="http://schemas.microsoft.com/office/drawing/2014/main" id="{541AC441-A81C-0906-BAAF-863BA6898D1C}"/>
              </a:ext>
            </a:extLst>
          </p:cNvPr>
          <p:cNvSpPr/>
          <p:nvPr/>
        </p:nvSpPr>
        <p:spPr>
          <a:xfrm>
            <a:off x="1375876" y="3429000"/>
            <a:ext cx="3282263" cy="196463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s-ES" b="1" i="0" dirty="0">
                <a:solidFill>
                  <a:schemeClr val="bg1"/>
                </a:solidFill>
                <a:effectLst/>
                <a:latin typeface="Google Sans"/>
              </a:rPr>
              <a:t>Secuencia lógica:</a:t>
            </a:r>
            <a:r>
              <a:rPr lang="es-ES" b="0" i="0" dirty="0">
                <a:solidFill>
                  <a:schemeClr val="bg1"/>
                </a:solidFill>
                <a:effectLst/>
                <a:latin typeface="Google Sans"/>
              </a:rPr>
              <a:t> Los </a:t>
            </a:r>
          </a:p>
          <a:p>
            <a:pPr algn="l"/>
            <a:r>
              <a:rPr lang="es-ES" b="0" i="0" dirty="0">
                <a:solidFill>
                  <a:schemeClr val="bg1"/>
                </a:solidFill>
                <a:effectLst/>
                <a:latin typeface="Google Sans"/>
              </a:rPr>
              <a:t>pasos deben seguir un orden estructurado.</a:t>
            </a:r>
          </a:p>
        </p:txBody>
      </p:sp>
      <p:sp>
        <p:nvSpPr>
          <p:cNvPr id="8" name="Arrow: Pentagon 7">
            <a:extLst>
              <a:ext uri="{FF2B5EF4-FFF2-40B4-BE49-F238E27FC236}">
                <a16:creationId xmlns:a16="http://schemas.microsoft.com/office/drawing/2014/main" id="{6FF029C2-4FAA-8D80-50F0-E9DF6FB0564F}"/>
              </a:ext>
            </a:extLst>
          </p:cNvPr>
          <p:cNvSpPr/>
          <p:nvPr/>
        </p:nvSpPr>
        <p:spPr>
          <a:xfrm>
            <a:off x="3686936" y="3429004"/>
            <a:ext cx="2875722" cy="1964635"/>
          </a:xfrm>
          <a:prstGeom prst="homePlate">
            <a:avLst>
              <a:gd name="adj" fmla="val 2166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i="0" dirty="0">
                <a:solidFill>
                  <a:schemeClr val="bg1"/>
                </a:solidFill>
                <a:effectLst/>
                <a:latin typeface="Google Sans"/>
              </a:rPr>
              <a:t>Finito:</a:t>
            </a:r>
            <a:r>
              <a:rPr lang="es-ES" b="0" i="0" dirty="0">
                <a:solidFill>
                  <a:schemeClr val="bg1"/>
                </a:solidFill>
                <a:effectLst/>
                <a:latin typeface="Google Sans"/>
              </a:rPr>
              <a:t> Debe tener un inicio y un final, y </a:t>
            </a:r>
          </a:p>
          <a:p>
            <a:r>
              <a:rPr lang="es-ES" b="0" i="0" dirty="0">
                <a:solidFill>
                  <a:schemeClr val="bg1"/>
                </a:solidFill>
                <a:effectLst/>
                <a:latin typeface="Google Sans"/>
              </a:rPr>
              <a:t>concluir en un tiempo finito.</a:t>
            </a:r>
          </a:p>
        </p:txBody>
      </p:sp>
      <p:sp>
        <p:nvSpPr>
          <p:cNvPr id="9" name="Arrow: Pentagon 8">
            <a:extLst>
              <a:ext uri="{FF2B5EF4-FFF2-40B4-BE49-F238E27FC236}">
                <a16:creationId xmlns:a16="http://schemas.microsoft.com/office/drawing/2014/main" id="{DB8231E1-6330-EB12-F026-2F64B5F69CC7}"/>
              </a:ext>
            </a:extLst>
          </p:cNvPr>
          <p:cNvSpPr/>
          <p:nvPr/>
        </p:nvSpPr>
        <p:spPr>
          <a:xfrm>
            <a:off x="6096000" y="3429003"/>
            <a:ext cx="2875722" cy="1964635"/>
          </a:xfrm>
          <a:prstGeom prst="homePlate">
            <a:avLst>
              <a:gd name="adj" fmla="val 324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b="1" i="0" dirty="0">
                <a:solidFill>
                  <a:schemeClr val="bg1"/>
                </a:solidFill>
                <a:effectLst/>
                <a:latin typeface="Google Sans"/>
              </a:rPr>
              <a:t>Preciso:</a:t>
            </a:r>
            <a:r>
              <a:rPr lang="es-ES" b="0" i="0" dirty="0">
                <a:solidFill>
                  <a:schemeClr val="bg1"/>
                </a:solidFill>
                <a:effectLst/>
                <a:latin typeface="Google Sans"/>
              </a:rPr>
              <a:t> Cada paso</a:t>
            </a:r>
          </a:p>
          <a:p>
            <a:r>
              <a:rPr lang="es-ES" b="0" i="0" dirty="0">
                <a:solidFill>
                  <a:schemeClr val="bg1"/>
                </a:solidFill>
                <a:effectLst/>
                <a:latin typeface="Google Sans"/>
              </a:rPr>
              <a:t>debe estar claramente definido y no ser ambiguo.</a:t>
            </a:r>
          </a:p>
        </p:txBody>
      </p:sp>
      <p:sp>
        <p:nvSpPr>
          <p:cNvPr id="10" name="Arrow: Pentagon 9">
            <a:extLst>
              <a:ext uri="{FF2B5EF4-FFF2-40B4-BE49-F238E27FC236}">
                <a16:creationId xmlns:a16="http://schemas.microsoft.com/office/drawing/2014/main" id="{3B9C6A21-6760-3641-7EC9-B47AA076271A}"/>
              </a:ext>
            </a:extLst>
          </p:cNvPr>
          <p:cNvSpPr/>
          <p:nvPr/>
        </p:nvSpPr>
        <p:spPr>
          <a:xfrm>
            <a:off x="8326163" y="3429000"/>
            <a:ext cx="2875722" cy="1964635"/>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s-ES" b="1" i="0" dirty="0">
                <a:solidFill>
                  <a:schemeClr val="bg1"/>
                </a:solidFill>
                <a:effectLst/>
                <a:latin typeface="Google Sans"/>
              </a:rPr>
              <a:t>Definido:</a:t>
            </a:r>
            <a:r>
              <a:rPr lang="es-ES" b="0" i="0" dirty="0">
                <a:solidFill>
                  <a:schemeClr val="bg1"/>
                </a:solidFill>
                <a:effectLst/>
                <a:latin typeface="Google Sans"/>
              </a:rPr>
              <a:t> Si se sigue </a:t>
            </a:r>
          </a:p>
          <a:p>
            <a:pPr algn="l"/>
            <a:r>
              <a:rPr lang="es-ES" b="0" i="0" dirty="0">
                <a:solidFill>
                  <a:schemeClr val="bg1"/>
                </a:solidFill>
                <a:effectLst/>
                <a:latin typeface="Google Sans"/>
              </a:rPr>
              <a:t>el algoritmo dos veces con los mismos datos de entrada, se debe obtener el mismo resultado.</a:t>
            </a:r>
          </a:p>
        </p:txBody>
      </p:sp>
    </p:spTree>
    <p:extLst>
      <p:ext uri="{BB962C8B-B14F-4D97-AF65-F5344CB8AC3E}">
        <p14:creationId xmlns:p14="http://schemas.microsoft.com/office/powerpoint/2010/main" val="245907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221246"/>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Componentes básicos de un Algoritmo</a:t>
            </a:r>
          </a:p>
        </p:txBody>
      </p:sp>
      <p:sp>
        <p:nvSpPr>
          <p:cNvPr id="2" name="CuadroTexto 1">
            <a:extLst>
              <a:ext uri="{FF2B5EF4-FFF2-40B4-BE49-F238E27FC236}">
                <a16:creationId xmlns:a16="http://schemas.microsoft.com/office/drawing/2014/main" id="{05C91B34-A9AF-EE63-68C6-548DAAE8E80E}"/>
              </a:ext>
            </a:extLst>
          </p:cNvPr>
          <p:cNvSpPr txBox="1"/>
          <p:nvPr/>
        </p:nvSpPr>
        <p:spPr>
          <a:xfrm>
            <a:off x="456236" y="1347570"/>
            <a:ext cx="9973225" cy="420564"/>
          </a:xfrm>
          <a:prstGeom prst="rect">
            <a:avLst/>
          </a:prstGeom>
          <a:noFill/>
        </p:spPr>
        <p:txBody>
          <a:bodyPr wrap="square">
            <a:spAutoFit/>
          </a:bodyPr>
          <a:lstStyle/>
          <a:p>
            <a:pPr>
              <a:lnSpc>
                <a:spcPct val="150000"/>
              </a:lnSpc>
            </a:pPr>
            <a:r>
              <a:rPr lang="es-ES" sz="1600" b="1" dirty="0">
                <a:latin typeface="Work Sans Light" pitchFamily="2" charset="77"/>
              </a:rPr>
              <a:t>Preparar una receta de cocina. </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TextBox 5">
            <a:extLst>
              <a:ext uri="{FF2B5EF4-FFF2-40B4-BE49-F238E27FC236}">
                <a16:creationId xmlns:a16="http://schemas.microsoft.com/office/drawing/2014/main" id="{17775552-5D98-6243-81C8-2B544AE83D63}"/>
              </a:ext>
            </a:extLst>
          </p:cNvPr>
          <p:cNvSpPr txBox="1"/>
          <p:nvPr/>
        </p:nvSpPr>
        <p:spPr>
          <a:xfrm>
            <a:off x="837076" y="2146584"/>
            <a:ext cx="3294129" cy="584775"/>
          </a:xfrm>
          <a:prstGeom prst="rect">
            <a:avLst/>
          </a:prstGeom>
          <a:noFill/>
        </p:spPr>
        <p:txBody>
          <a:bodyPr wrap="square">
            <a:spAutoFit/>
          </a:bodyPr>
          <a:lstStyle/>
          <a:p>
            <a:pPr algn="l">
              <a:buFont typeface="+mj-lt"/>
              <a:buAutoNum type="arabicPeriod"/>
            </a:pPr>
            <a:r>
              <a:rPr lang="es-ES" sz="1600" b="1" dirty="0">
                <a:latin typeface="Work Sans Light" pitchFamily="2" charset="77"/>
              </a:rPr>
              <a:t>Entrada (Input): </a:t>
            </a:r>
            <a:r>
              <a:rPr lang="es-ES" sz="1600" dirty="0">
                <a:latin typeface="Work Sans Light" pitchFamily="2" charset="77"/>
              </a:rPr>
              <a:t>Los datos necesarios para iniciar.</a:t>
            </a:r>
          </a:p>
        </p:txBody>
      </p:sp>
      <p:sp>
        <p:nvSpPr>
          <p:cNvPr id="12" name="TextBox 11">
            <a:extLst>
              <a:ext uri="{FF2B5EF4-FFF2-40B4-BE49-F238E27FC236}">
                <a16:creationId xmlns:a16="http://schemas.microsoft.com/office/drawing/2014/main" id="{F58E3BE4-2A04-DC0F-C1E1-452CBC2FF03F}"/>
              </a:ext>
            </a:extLst>
          </p:cNvPr>
          <p:cNvSpPr txBox="1"/>
          <p:nvPr/>
        </p:nvSpPr>
        <p:spPr>
          <a:xfrm>
            <a:off x="4253948" y="2146584"/>
            <a:ext cx="3829878" cy="830997"/>
          </a:xfrm>
          <a:prstGeom prst="rect">
            <a:avLst/>
          </a:prstGeom>
          <a:noFill/>
        </p:spPr>
        <p:txBody>
          <a:bodyPr wrap="square">
            <a:spAutoFit/>
          </a:bodyPr>
          <a:lstStyle/>
          <a:p>
            <a:pPr algn="l"/>
            <a:r>
              <a:rPr lang="es-ES" sz="1600" b="1" dirty="0">
                <a:latin typeface="Work Sans Light" pitchFamily="2" charset="77"/>
              </a:rPr>
              <a:t>2. Proceso (Algoritmo): </a:t>
            </a:r>
            <a:r>
              <a:rPr lang="es-ES" sz="1600" dirty="0">
                <a:latin typeface="Work Sans Light" pitchFamily="2" charset="77"/>
              </a:rPr>
              <a:t>La secuencia de instrucciones aplicadas a la entrada.</a:t>
            </a:r>
          </a:p>
        </p:txBody>
      </p:sp>
      <p:sp>
        <p:nvSpPr>
          <p:cNvPr id="14" name="TextBox 13">
            <a:extLst>
              <a:ext uri="{FF2B5EF4-FFF2-40B4-BE49-F238E27FC236}">
                <a16:creationId xmlns:a16="http://schemas.microsoft.com/office/drawing/2014/main" id="{A2B82E0C-0B85-1D3D-0461-E3488A6A41EA}"/>
              </a:ext>
            </a:extLst>
          </p:cNvPr>
          <p:cNvSpPr txBox="1"/>
          <p:nvPr/>
        </p:nvSpPr>
        <p:spPr>
          <a:xfrm>
            <a:off x="8156712" y="2146584"/>
            <a:ext cx="3558209" cy="615553"/>
          </a:xfrm>
          <a:prstGeom prst="rect">
            <a:avLst/>
          </a:prstGeom>
          <a:noFill/>
        </p:spPr>
        <p:txBody>
          <a:bodyPr wrap="square">
            <a:spAutoFit/>
          </a:bodyPr>
          <a:lstStyle/>
          <a:p>
            <a:r>
              <a:rPr lang="es-ES" b="1" i="0" dirty="0">
                <a:solidFill>
                  <a:srgbClr val="0A0A0A"/>
                </a:solidFill>
                <a:effectLst/>
                <a:latin typeface="Google Sans"/>
              </a:rPr>
              <a:t>3</a:t>
            </a:r>
            <a:r>
              <a:rPr lang="es-ES" sz="1600" b="1" dirty="0">
                <a:latin typeface="Work Sans Light" pitchFamily="2" charset="77"/>
              </a:rPr>
              <a:t>. Salida (Output): </a:t>
            </a:r>
            <a:r>
              <a:rPr lang="es-ES" sz="1600" dirty="0">
                <a:latin typeface="Work Sans Light" pitchFamily="2" charset="77"/>
              </a:rPr>
              <a:t>El resultado final que soluciona el problema</a:t>
            </a:r>
            <a:endParaRPr lang="es-CO" sz="1600" dirty="0">
              <a:latin typeface="Work Sans Light" pitchFamily="2" charset="77"/>
            </a:endParaRPr>
          </a:p>
        </p:txBody>
      </p:sp>
      <p:pic>
        <p:nvPicPr>
          <p:cNvPr id="1030" name="Picture 6" descr="Cocinamos pizza con pictogramas">
            <a:extLst>
              <a:ext uri="{FF2B5EF4-FFF2-40B4-BE49-F238E27FC236}">
                <a16:creationId xmlns:a16="http://schemas.microsoft.com/office/drawing/2014/main" id="{4B6F1726-34E2-46D7-4525-6A986843F5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579" r="4442"/>
          <a:stretch/>
        </p:blipFill>
        <p:spPr bwMode="auto">
          <a:xfrm>
            <a:off x="4672314" y="2977581"/>
            <a:ext cx="2993146" cy="3301364"/>
          </a:xfrm>
          <a:prstGeom prst="ellipse">
            <a:avLst/>
          </a:prstGeom>
          <a:noFill/>
          <a:extLst>
            <a:ext uri="{909E8E84-426E-40DD-AFC4-6F175D3DCCD1}">
              <a14:hiddenFill xmlns:a14="http://schemas.microsoft.com/office/drawing/2010/main">
                <a:solidFill>
                  <a:srgbClr val="FFFFFF"/>
                </a:solidFill>
              </a14:hiddenFill>
            </a:ext>
          </a:extLst>
        </p:spPr>
      </p:pic>
      <p:pic>
        <p:nvPicPr>
          <p:cNvPr id="1034" name="Picture 10" descr="Pollo desmenuzado ahumado con barbacoa, acompañado de frijoles ahumados y  salsa Carolina Mop">
            <a:extLst>
              <a:ext uri="{FF2B5EF4-FFF2-40B4-BE49-F238E27FC236}">
                <a16:creationId xmlns:a16="http://schemas.microsoft.com/office/drawing/2014/main" id="{289E3CDC-B43B-C5E6-DE19-1F72BB58689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0569" r="2974"/>
          <a:stretch/>
        </p:blipFill>
        <p:spPr bwMode="auto">
          <a:xfrm>
            <a:off x="8507217" y="2977581"/>
            <a:ext cx="2857198" cy="3301364"/>
          </a:xfrm>
          <a:prstGeom prst="ellipse">
            <a:avLst/>
          </a:prstGeom>
          <a:noFill/>
          <a:extLst>
            <a:ext uri="{909E8E84-426E-40DD-AFC4-6F175D3DCCD1}">
              <a14:hiddenFill xmlns:a14="http://schemas.microsoft.com/office/drawing/2010/main">
                <a:solidFill>
                  <a:srgbClr val="FFFFFF"/>
                </a:solidFill>
              </a14:hiddenFill>
            </a:ext>
          </a:extLst>
        </p:spPr>
      </p:pic>
      <p:pic>
        <p:nvPicPr>
          <p:cNvPr id="1036" name="Picture 12" descr="ingredientes frescos para pizza 2025352 Foto de stock en Vecteezy">
            <a:extLst>
              <a:ext uri="{FF2B5EF4-FFF2-40B4-BE49-F238E27FC236}">
                <a16:creationId xmlns:a16="http://schemas.microsoft.com/office/drawing/2014/main" id="{B4EDD0D7-FBB7-DEF3-1969-7B90C9E8E5D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559" r="19984"/>
          <a:stretch/>
        </p:blipFill>
        <p:spPr bwMode="auto">
          <a:xfrm>
            <a:off x="1063647" y="2977581"/>
            <a:ext cx="2840986" cy="3301364"/>
          </a:xfrm>
          <a:prstGeom prst="ellipse">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47A117A-7E9E-0B5F-ACC2-518BFD9D2125}"/>
              </a:ext>
            </a:extLst>
          </p:cNvPr>
          <p:cNvSpPr txBox="1"/>
          <p:nvPr/>
        </p:nvSpPr>
        <p:spPr>
          <a:xfrm>
            <a:off x="846854" y="6529032"/>
            <a:ext cx="3274572" cy="215444"/>
          </a:xfrm>
          <a:prstGeom prst="rect">
            <a:avLst/>
          </a:prstGeom>
          <a:noFill/>
        </p:spPr>
        <p:txBody>
          <a:bodyPr wrap="square">
            <a:spAutoFit/>
          </a:bodyPr>
          <a:lstStyle/>
          <a:p>
            <a:pPr algn="ctr"/>
            <a:r>
              <a:rPr lang="es-CO" sz="800" dirty="0"/>
              <a:t>https://es.vecteezy.com/foto/2025352-ingredientes-frescos-para-pizza</a:t>
            </a:r>
          </a:p>
        </p:txBody>
      </p:sp>
      <p:sp>
        <p:nvSpPr>
          <p:cNvPr id="20" name="TextBox 19">
            <a:extLst>
              <a:ext uri="{FF2B5EF4-FFF2-40B4-BE49-F238E27FC236}">
                <a16:creationId xmlns:a16="http://schemas.microsoft.com/office/drawing/2014/main" id="{3975ED28-0597-69D8-94A7-E0BFB63B8BDC}"/>
              </a:ext>
            </a:extLst>
          </p:cNvPr>
          <p:cNvSpPr txBox="1"/>
          <p:nvPr/>
        </p:nvSpPr>
        <p:spPr>
          <a:xfrm>
            <a:off x="8288752" y="6527327"/>
            <a:ext cx="3294129" cy="215444"/>
          </a:xfrm>
          <a:prstGeom prst="rect">
            <a:avLst/>
          </a:prstGeom>
          <a:noFill/>
        </p:spPr>
        <p:txBody>
          <a:bodyPr wrap="square">
            <a:spAutoFit/>
          </a:bodyPr>
          <a:lstStyle/>
          <a:p>
            <a:pPr algn="ctr"/>
            <a:r>
              <a:rPr lang="es-CO" sz="800" dirty="0"/>
              <a:t>https://sandersonfarms.com/es/recetas/pizza-de-pollo-a-la-barbacoa/</a:t>
            </a:r>
          </a:p>
        </p:txBody>
      </p:sp>
      <p:sp>
        <p:nvSpPr>
          <p:cNvPr id="22" name="TextBox 21">
            <a:extLst>
              <a:ext uri="{FF2B5EF4-FFF2-40B4-BE49-F238E27FC236}">
                <a16:creationId xmlns:a16="http://schemas.microsoft.com/office/drawing/2014/main" id="{FA42ADFE-5FB9-FC10-EE1C-87EAC347FED4}"/>
              </a:ext>
            </a:extLst>
          </p:cNvPr>
          <p:cNvSpPr txBox="1"/>
          <p:nvPr/>
        </p:nvSpPr>
        <p:spPr>
          <a:xfrm>
            <a:off x="4830418" y="6527327"/>
            <a:ext cx="2676939" cy="215444"/>
          </a:xfrm>
          <a:prstGeom prst="rect">
            <a:avLst/>
          </a:prstGeom>
          <a:noFill/>
        </p:spPr>
        <p:txBody>
          <a:bodyPr wrap="square">
            <a:spAutoFit/>
          </a:bodyPr>
          <a:lstStyle/>
          <a:p>
            <a:pPr algn="ctr"/>
            <a:r>
              <a:rPr lang="es-CO" sz="800" dirty="0"/>
              <a:t>https://es.pinterest.com/pin/86131411608976344/</a:t>
            </a:r>
          </a:p>
        </p:txBody>
      </p:sp>
    </p:spTree>
    <p:extLst>
      <p:ext uri="{BB962C8B-B14F-4D97-AF65-F5344CB8AC3E}">
        <p14:creationId xmlns:p14="http://schemas.microsoft.com/office/powerpoint/2010/main" val="135356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36"/>
                                        </p:tgtEl>
                                        <p:attrNameLst>
                                          <p:attrName>style.visibility</p:attrName>
                                        </p:attrNameLst>
                                      </p:cBhvr>
                                      <p:to>
                                        <p:strVal val="visible"/>
                                      </p:to>
                                    </p:set>
                                    <p:animEffect transition="in" filter="fade">
                                      <p:cBhvr>
                                        <p:cTn id="19" dur="1000"/>
                                        <p:tgtEl>
                                          <p:spTgt spid="1036"/>
                                        </p:tgtEl>
                                      </p:cBhvr>
                                    </p:animEffect>
                                    <p:anim calcmode="lin" valueType="num">
                                      <p:cBhvr>
                                        <p:cTn id="20" dur="1000" fill="hold"/>
                                        <p:tgtEl>
                                          <p:spTgt spid="1036"/>
                                        </p:tgtEl>
                                        <p:attrNameLst>
                                          <p:attrName>ppt_x</p:attrName>
                                        </p:attrNameLst>
                                      </p:cBhvr>
                                      <p:tavLst>
                                        <p:tav tm="0">
                                          <p:val>
                                            <p:strVal val="#ppt_x"/>
                                          </p:val>
                                        </p:tav>
                                        <p:tav tm="100000">
                                          <p:val>
                                            <p:strVal val="#ppt_x"/>
                                          </p:val>
                                        </p:tav>
                                      </p:tavLst>
                                    </p:anim>
                                    <p:anim calcmode="lin" valueType="num">
                                      <p:cBhvr>
                                        <p:cTn id="21" dur="1000" fill="hold"/>
                                        <p:tgtEl>
                                          <p:spTgt spid="103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030"/>
                                        </p:tgtEl>
                                        <p:attrNameLst>
                                          <p:attrName>style.visibility</p:attrName>
                                        </p:attrNameLst>
                                      </p:cBhvr>
                                      <p:to>
                                        <p:strVal val="visible"/>
                                      </p:to>
                                    </p:set>
                                    <p:animEffect transition="in" filter="fade">
                                      <p:cBhvr>
                                        <p:cTn id="36" dur="1000"/>
                                        <p:tgtEl>
                                          <p:spTgt spid="1030"/>
                                        </p:tgtEl>
                                      </p:cBhvr>
                                    </p:animEffect>
                                    <p:anim calcmode="lin" valueType="num">
                                      <p:cBhvr>
                                        <p:cTn id="37" dur="1000" fill="hold"/>
                                        <p:tgtEl>
                                          <p:spTgt spid="1030"/>
                                        </p:tgtEl>
                                        <p:attrNameLst>
                                          <p:attrName>ppt_x</p:attrName>
                                        </p:attrNameLst>
                                      </p:cBhvr>
                                      <p:tavLst>
                                        <p:tav tm="0">
                                          <p:val>
                                            <p:strVal val="#ppt_x"/>
                                          </p:val>
                                        </p:tav>
                                        <p:tav tm="100000">
                                          <p:val>
                                            <p:strVal val="#ppt_x"/>
                                          </p:val>
                                        </p:tav>
                                      </p:tavLst>
                                    </p:anim>
                                    <p:anim calcmode="lin" valueType="num">
                                      <p:cBhvr>
                                        <p:cTn id="38" dur="1000" fill="hold"/>
                                        <p:tgtEl>
                                          <p:spTgt spid="103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1000"/>
                                        <p:tgtEl>
                                          <p:spTgt spid="22"/>
                                        </p:tgtEl>
                                      </p:cBhvr>
                                    </p:animEffect>
                                    <p:anim calcmode="lin" valueType="num">
                                      <p:cBhvr>
                                        <p:cTn id="42" dur="1000" fill="hold"/>
                                        <p:tgtEl>
                                          <p:spTgt spid="22"/>
                                        </p:tgtEl>
                                        <p:attrNameLst>
                                          <p:attrName>ppt_x</p:attrName>
                                        </p:attrNameLst>
                                      </p:cBhvr>
                                      <p:tavLst>
                                        <p:tav tm="0">
                                          <p:val>
                                            <p:strVal val="#ppt_x"/>
                                          </p:val>
                                        </p:tav>
                                        <p:tav tm="100000">
                                          <p:val>
                                            <p:strVal val="#ppt_x"/>
                                          </p:val>
                                        </p:tav>
                                      </p:tavLst>
                                    </p:anim>
                                    <p:anim calcmode="lin" valueType="num">
                                      <p:cBhvr>
                                        <p:cTn id="4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1000"/>
                                        <p:tgtEl>
                                          <p:spTgt spid="14"/>
                                        </p:tgtEl>
                                      </p:cBhvr>
                                    </p:animEffect>
                                    <p:anim calcmode="lin" valueType="num">
                                      <p:cBhvr>
                                        <p:cTn id="49" dur="1000" fill="hold"/>
                                        <p:tgtEl>
                                          <p:spTgt spid="14"/>
                                        </p:tgtEl>
                                        <p:attrNameLst>
                                          <p:attrName>ppt_x</p:attrName>
                                        </p:attrNameLst>
                                      </p:cBhvr>
                                      <p:tavLst>
                                        <p:tav tm="0">
                                          <p:val>
                                            <p:strVal val="#ppt_x"/>
                                          </p:val>
                                        </p:tav>
                                        <p:tav tm="100000">
                                          <p:val>
                                            <p:strVal val="#ppt_x"/>
                                          </p:val>
                                        </p:tav>
                                      </p:tavLst>
                                    </p:anim>
                                    <p:anim calcmode="lin" valueType="num">
                                      <p:cBhvr>
                                        <p:cTn id="50" dur="1000" fill="hold"/>
                                        <p:tgtEl>
                                          <p:spTgt spid="14"/>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034"/>
                                        </p:tgtEl>
                                        <p:attrNameLst>
                                          <p:attrName>style.visibility</p:attrName>
                                        </p:attrNameLst>
                                      </p:cBhvr>
                                      <p:to>
                                        <p:strVal val="visible"/>
                                      </p:to>
                                    </p:set>
                                    <p:animEffect transition="in" filter="fade">
                                      <p:cBhvr>
                                        <p:cTn id="53" dur="1000"/>
                                        <p:tgtEl>
                                          <p:spTgt spid="1034"/>
                                        </p:tgtEl>
                                      </p:cBhvr>
                                    </p:animEffect>
                                    <p:anim calcmode="lin" valueType="num">
                                      <p:cBhvr>
                                        <p:cTn id="54" dur="1000" fill="hold"/>
                                        <p:tgtEl>
                                          <p:spTgt spid="1034"/>
                                        </p:tgtEl>
                                        <p:attrNameLst>
                                          <p:attrName>ppt_x</p:attrName>
                                        </p:attrNameLst>
                                      </p:cBhvr>
                                      <p:tavLst>
                                        <p:tav tm="0">
                                          <p:val>
                                            <p:strVal val="#ppt_x"/>
                                          </p:val>
                                        </p:tav>
                                        <p:tav tm="100000">
                                          <p:val>
                                            <p:strVal val="#ppt_x"/>
                                          </p:val>
                                        </p:tav>
                                      </p:tavLst>
                                    </p:anim>
                                    <p:anim calcmode="lin" valueType="num">
                                      <p:cBhvr>
                                        <p:cTn id="55" dur="1000" fill="hold"/>
                                        <p:tgtEl>
                                          <p:spTgt spid="1034"/>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1000"/>
                                        <p:tgtEl>
                                          <p:spTgt spid="20"/>
                                        </p:tgtEl>
                                      </p:cBhvr>
                                    </p:animEffect>
                                    <p:anim calcmode="lin" valueType="num">
                                      <p:cBhvr>
                                        <p:cTn id="59" dur="1000" fill="hold"/>
                                        <p:tgtEl>
                                          <p:spTgt spid="20"/>
                                        </p:tgtEl>
                                        <p:attrNameLst>
                                          <p:attrName>ppt_x</p:attrName>
                                        </p:attrNameLst>
                                      </p:cBhvr>
                                      <p:tavLst>
                                        <p:tav tm="0">
                                          <p:val>
                                            <p:strVal val="#ppt_x"/>
                                          </p:val>
                                        </p:tav>
                                        <p:tav tm="100000">
                                          <p:val>
                                            <p:strVal val="#ppt_x"/>
                                          </p:val>
                                        </p:tav>
                                      </p:tavLst>
                                    </p:anim>
                                    <p:anim calcmode="lin" valueType="num">
                                      <p:cBhvr>
                                        <p:cTn id="6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2" grpId="0"/>
      <p:bldP spid="14" grpId="0"/>
      <p:bldP spid="18" grpId="0"/>
      <p:bldP spid="20"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221246"/>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2. Evidencia de producto: GA3-220501093-AA1-EV02 taller de resolución de problemas de algoritmos en pseudocódigo y diagramas de flujo.</a:t>
            </a:r>
          </a:p>
        </p:txBody>
      </p:sp>
      <p:sp>
        <p:nvSpPr>
          <p:cNvPr id="2" name="CuadroTexto 1">
            <a:extLst>
              <a:ext uri="{FF2B5EF4-FFF2-40B4-BE49-F238E27FC236}">
                <a16:creationId xmlns:a16="http://schemas.microsoft.com/office/drawing/2014/main" id="{05C91B34-A9AF-EE63-68C6-548DAAE8E80E}"/>
              </a:ext>
            </a:extLst>
          </p:cNvPr>
          <p:cNvSpPr txBox="1"/>
          <p:nvPr/>
        </p:nvSpPr>
        <p:spPr>
          <a:xfrm>
            <a:off x="456236" y="1234789"/>
            <a:ext cx="11485555" cy="5524333"/>
          </a:xfrm>
          <a:prstGeom prst="rect">
            <a:avLst/>
          </a:prstGeom>
          <a:noFill/>
        </p:spPr>
        <p:txBody>
          <a:bodyPr wrap="square">
            <a:spAutoFit/>
          </a:bodyPr>
          <a:lstStyle/>
          <a:p>
            <a:pPr algn="just">
              <a:lnSpc>
                <a:spcPct val="150000"/>
              </a:lnSpc>
            </a:pPr>
            <a:r>
              <a:rPr lang="es-ES" sz="1400" dirty="0">
                <a:latin typeface="Work Sans Light" pitchFamily="2" charset="77"/>
              </a:rPr>
              <a:t>Teniendo en cuenta las recomendaciones para el análisis de problemas desarrollado durante el componente formativo en esta actividad se plantean algunos problemas, los cuales deberá leer detenidamente para luego identificar los elementos de entrada y los resultados esperados. Adicionalmente, se introduce el tema de diagramas de flujo para lo cual deberá realizar una investigación corta respondiendo algunos lineamientos establecidos en esta actividad.</a:t>
            </a:r>
          </a:p>
          <a:p>
            <a:pPr algn="just">
              <a:lnSpc>
                <a:spcPct val="150000"/>
              </a:lnSpc>
            </a:pPr>
            <a:endParaRPr lang="es-ES" sz="1600" dirty="0">
              <a:latin typeface="Work Sans Light" pitchFamily="2" charset="77"/>
            </a:endParaRPr>
          </a:p>
          <a:p>
            <a:pPr algn="just">
              <a:lnSpc>
                <a:spcPct val="150000"/>
              </a:lnSpc>
            </a:pPr>
            <a:r>
              <a:rPr lang="es-ES" sz="1500" b="1" dirty="0">
                <a:latin typeface="Work Sans Light" pitchFamily="2" charset="77"/>
              </a:rPr>
              <a:t>Elementos para tener en el desarrollo del taller: </a:t>
            </a:r>
          </a:p>
          <a:p>
            <a:pPr algn="just">
              <a:lnSpc>
                <a:spcPct val="150000"/>
              </a:lnSpc>
            </a:pPr>
            <a:r>
              <a:rPr lang="es-ES" sz="1500" b="1" dirty="0">
                <a:latin typeface="Work Sans Light" pitchFamily="2" charset="77"/>
              </a:rPr>
              <a:t>Sección 1 Taller</a:t>
            </a:r>
            <a:endParaRPr lang="es-ES" sz="1500" dirty="0">
              <a:latin typeface="Work Sans Light" pitchFamily="2" charset="77"/>
            </a:endParaRPr>
          </a:p>
          <a:p>
            <a:pPr algn="just">
              <a:lnSpc>
                <a:spcPct val="150000"/>
              </a:lnSpc>
            </a:pPr>
            <a:r>
              <a:rPr lang="es-ES" sz="1500" dirty="0">
                <a:latin typeface="Work Sans Light" pitchFamily="2" charset="77"/>
              </a:rPr>
              <a:t>Teniendo en cuenta los siguientes problemas identificar los posibles </a:t>
            </a:r>
            <a:r>
              <a:rPr lang="es-ES" sz="1500" b="1" dirty="0">
                <a:latin typeface="Work Sans Light" pitchFamily="2" charset="77"/>
              </a:rPr>
              <a:t>elementos de entrada y resultados esperados </a:t>
            </a:r>
            <a:r>
              <a:rPr lang="es-ES" sz="1500" dirty="0">
                <a:latin typeface="Work Sans Light" pitchFamily="2" charset="77"/>
              </a:rPr>
              <a:t>de cada uno</a:t>
            </a:r>
            <a:r>
              <a:rPr lang="es-ES" sz="1400" dirty="0">
                <a:latin typeface="Work Sans Light" pitchFamily="2" charset="77"/>
              </a:rPr>
              <a:t>:</a:t>
            </a:r>
          </a:p>
          <a:p>
            <a:pPr marL="342900" indent="-342900" algn="just">
              <a:lnSpc>
                <a:spcPct val="150000"/>
              </a:lnSpc>
              <a:buFont typeface="+mj-lt"/>
              <a:buAutoNum type="arabicPeriod"/>
            </a:pPr>
            <a:r>
              <a:rPr lang="es-ES" sz="1500" dirty="0">
                <a:latin typeface="Work Sans Light" pitchFamily="2" charset="77"/>
              </a:rPr>
              <a:t>Se desea elaborar un algoritmo que permita identificar la cantidad de dólares equivalentes a una cantidad de pesos colombianos. </a:t>
            </a:r>
          </a:p>
          <a:p>
            <a:pPr marL="342900" indent="-342900" algn="just">
              <a:lnSpc>
                <a:spcPct val="150000"/>
              </a:lnSpc>
              <a:buFont typeface="+mj-lt"/>
              <a:buAutoNum type="arabicPeriod"/>
            </a:pPr>
            <a:r>
              <a:rPr lang="es-ES" sz="1500" dirty="0">
                <a:latin typeface="Work Sans Light" pitchFamily="2" charset="77"/>
              </a:rPr>
              <a:t>Se desea elaborar un algoritmo que permita determinar la temperatura equivalente en grados centígrados a la cantidad de grados Fahrenheit actuales en la ciudad de New York. </a:t>
            </a:r>
          </a:p>
          <a:p>
            <a:pPr marL="342900" indent="-342900" algn="just">
              <a:lnSpc>
                <a:spcPct val="150000"/>
              </a:lnSpc>
              <a:buFont typeface="+mj-lt"/>
              <a:buAutoNum type="arabicPeriod"/>
            </a:pPr>
            <a:r>
              <a:rPr lang="es-ES" sz="1500" dirty="0">
                <a:latin typeface="Work Sans Light" pitchFamily="2" charset="77"/>
              </a:rPr>
              <a:t>Suponiendo que nos encontramos descansando en una nuestra casa en una ciudad de Colombia requiero hacer un plan detallado para llegar a tiempo a mi sitio de trabajo el día siguiente. </a:t>
            </a:r>
          </a:p>
          <a:p>
            <a:pPr marL="342900" indent="-342900" algn="just">
              <a:lnSpc>
                <a:spcPct val="150000"/>
              </a:lnSpc>
              <a:buFont typeface="+mj-lt"/>
              <a:buAutoNum type="arabicPeriod"/>
            </a:pPr>
            <a:r>
              <a:rPr lang="es-ES" sz="1500" dirty="0">
                <a:latin typeface="Work Sans Light" pitchFamily="2" charset="77"/>
              </a:rPr>
              <a:t>Suponiendo que tengo habilidades en la elaboración de comida necesito elaborar un arroz con pollo para 5 personas.</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005330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221246"/>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2. Evidencia de producto: GA3-220501093-AA1-EV02 taller de resolución de problemas de algoritmos en pseudocódigo y diagramas de flujo.</a:t>
            </a:r>
          </a:p>
        </p:txBody>
      </p:sp>
      <p:sp>
        <p:nvSpPr>
          <p:cNvPr id="2" name="CuadroTexto 1">
            <a:extLst>
              <a:ext uri="{FF2B5EF4-FFF2-40B4-BE49-F238E27FC236}">
                <a16:creationId xmlns:a16="http://schemas.microsoft.com/office/drawing/2014/main" id="{05C91B34-A9AF-EE63-68C6-548DAAE8E80E}"/>
              </a:ext>
            </a:extLst>
          </p:cNvPr>
          <p:cNvSpPr txBox="1"/>
          <p:nvPr/>
        </p:nvSpPr>
        <p:spPr>
          <a:xfrm>
            <a:off x="456236" y="1206017"/>
            <a:ext cx="11485555" cy="1159035"/>
          </a:xfrm>
          <a:prstGeom prst="rect">
            <a:avLst/>
          </a:prstGeom>
          <a:noFill/>
        </p:spPr>
        <p:txBody>
          <a:bodyPr wrap="square">
            <a:spAutoFit/>
          </a:bodyPr>
          <a:lstStyle/>
          <a:p>
            <a:pPr algn="just">
              <a:lnSpc>
                <a:spcPct val="150000"/>
              </a:lnSpc>
            </a:pPr>
            <a:endParaRPr lang="es-ES" sz="1600" dirty="0">
              <a:latin typeface="Work Sans Light" pitchFamily="2" charset="77"/>
            </a:endParaRPr>
          </a:p>
          <a:p>
            <a:pPr algn="just">
              <a:lnSpc>
                <a:spcPct val="150000"/>
              </a:lnSpc>
            </a:pPr>
            <a:r>
              <a:rPr lang="es-ES" sz="1600" b="1" dirty="0">
                <a:latin typeface="Work Sans Light" pitchFamily="2" charset="77"/>
              </a:rPr>
              <a:t>Respecto a los problemas planteados: </a:t>
            </a:r>
            <a:r>
              <a:rPr lang="es-ES" sz="1600" dirty="0">
                <a:latin typeface="Work Sans Light" pitchFamily="2" charset="77"/>
              </a:rPr>
              <a:t>Para precisar los elementos de entrada y salida de cada una de las situaciones enunciadas no olvide las preguntas guía: </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5" name="Table 5">
            <a:extLst>
              <a:ext uri="{FF2B5EF4-FFF2-40B4-BE49-F238E27FC236}">
                <a16:creationId xmlns:a16="http://schemas.microsoft.com/office/drawing/2014/main" id="{C3171CCB-92BF-4F49-9175-B5DA5CAB5834}"/>
              </a:ext>
            </a:extLst>
          </p:cNvPr>
          <p:cNvGraphicFramePr>
            <a:graphicFrameLocks noGrp="1"/>
          </p:cNvGraphicFramePr>
          <p:nvPr>
            <p:extLst>
              <p:ext uri="{D42A27DB-BD31-4B8C-83A1-F6EECF244321}">
                <p14:modId xmlns:p14="http://schemas.microsoft.com/office/powerpoint/2010/main" val="3505184088"/>
              </p:ext>
            </p:extLst>
          </p:nvPr>
        </p:nvGraphicFramePr>
        <p:xfrm>
          <a:off x="572853" y="2821949"/>
          <a:ext cx="11252320" cy="2951480"/>
        </p:xfrm>
        <a:graphic>
          <a:graphicData uri="http://schemas.openxmlformats.org/drawingml/2006/table">
            <a:tbl>
              <a:tblPr firstRow="1" bandRow="1">
                <a:tableStyleId>{5C22544A-7EE6-4342-B048-85BDC9FD1C3A}</a:tableStyleId>
              </a:tblPr>
              <a:tblGrid>
                <a:gridCol w="6434808">
                  <a:extLst>
                    <a:ext uri="{9D8B030D-6E8A-4147-A177-3AD203B41FA5}">
                      <a16:colId xmlns:a16="http://schemas.microsoft.com/office/drawing/2014/main" val="3324580779"/>
                    </a:ext>
                  </a:extLst>
                </a:gridCol>
                <a:gridCol w="4817512">
                  <a:extLst>
                    <a:ext uri="{9D8B030D-6E8A-4147-A177-3AD203B41FA5}">
                      <a16:colId xmlns:a16="http://schemas.microsoft.com/office/drawing/2014/main" val="1646745643"/>
                    </a:ext>
                  </a:extLst>
                </a:gridCol>
              </a:tblGrid>
              <a:tr h="370840">
                <a:tc>
                  <a:txBody>
                    <a:bodyPr/>
                    <a:lstStyle/>
                    <a:p>
                      <a:pPr algn="ctr"/>
                      <a:r>
                        <a:rPr lang="es-ES" sz="1600" dirty="0">
                          <a:latin typeface="Work Sans Light" pitchFamily="2" charset="77"/>
                        </a:rPr>
                        <a:t>Para precisar los elementos de entrada </a:t>
                      </a:r>
                      <a:endParaRPr lang="es-CO" sz="1600" dirty="0"/>
                    </a:p>
                  </a:txBody>
                  <a:tcPr/>
                </a:tc>
                <a:tc>
                  <a:txBody>
                    <a:bodyPr/>
                    <a:lstStyle/>
                    <a:p>
                      <a:pPr algn="ctr"/>
                      <a:r>
                        <a:rPr lang="es-ES" sz="1600" b="1" kern="1200" dirty="0">
                          <a:solidFill>
                            <a:schemeClr val="lt1"/>
                          </a:solidFill>
                          <a:latin typeface="Work Sans Light" pitchFamily="2" charset="77"/>
                          <a:ea typeface="+mn-ea"/>
                          <a:cs typeface="+mn-cs"/>
                        </a:rPr>
                        <a:t>Para precisar los resultados esperados</a:t>
                      </a:r>
                      <a:endParaRPr lang="es-CO" sz="1600" b="1" kern="1200" dirty="0">
                        <a:solidFill>
                          <a:schemeClr val="lt1"/>
                        </a:solidFill>
                        <a:latin typeface="Work Sans Light" pitchFamily="2" charset="77"/>
                        <a:ea typeface="+mn-ea"/>
                        <a:cs typeface="+mn-cs"/>
                      </a:endParaRPr>
                    </a:p>
                  </a:txBody>
                  <a:tcPr/>
                </a:tc>
                <a:extLst>
                  <a:ext uri="{0D108BD9-81ED-4DB2-BD59-A6C34878D82A}">
                    <a16:rowId xmlns:a16="http://schemas.microsoft.com/office/drawing/2014/main" val="420951570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500" b="1" dirty="0">
                          <a:latin typeface="Work Sans Light" pitchFamily="2" charset="77"/>
                        </a:rPr>
                        <a:t>¿Qué información es importante y necesaria para resolver el problema? </a:t>
                      </a:r>
                      <a:endParaRPr lang="es-CO" sz="1500" b="1" dirty="0"/>
                    </a:p>
                  </a:txBody>
                  <a:tcPr/>
                </a:tc>
                <a:tc>
                  <a:txBody>
                    <a:bodyPr/>
                    <a:lstStyle/>
                    <a:p>
                      <a:r>
                        <a:rPr lang="es-ES" sz="1500" b="1" dirty="0">
                          <a:latin typeface="Work Sans Light" pitchFamily="2" charset="77"/>
                        </a:rPr>
                        <a:t>¿Qué información están solicitando? </a:t>
                      </a:r>
                      <a:endParaRPr lang="es-CO" sz="1500" b="1" dirty="0"/>
                    </a:p>
                  </a:txBody>
                  <a:tcPr/>
                </a:tc>
                <a:extLst>
                  <a:ext uri="{0D108BD9-81ED-4DB2-BD59-A6C34878D82A}">
                    <a16:rowId xmlns:a16="http://schemas.microsoft.com/office/drawing/2014/main" val="873400291"/>
                  </a:ext>
                </a:extLst>
              </a:tr>
              <a:tr h="370840">
                <a:tc>
                  <a:txBody>
                    <a:bodyPr/>
                    <a:lstStyle/>
                    <a:p>
                      <a:r>
                        <a:rPr lang="es-ES" sz="1500" b="1" dirty="0">
                          <a:latin typeface="Work Sans Light" pitchFamily="2" charset="77"/>
                        </a:rPr>
                        <a:t>¿Qué información no es importante y se puede prescindir? </a:t>
                      </a:r>
                      <a:endParaRPr lang="es-CO" sz="15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500" b="1" dirty="0">
                          <a:latin typeface="Work Sans Light" pitchFamily="2" charset="77"/>
                        </a:rPr>
                        <a:t>¿En qué formato se debe entregar esta información?</a:t>
                      </a:r>
                      <a:endParaRPr lang="es-CO" sz="1500" b="1" dirty="0"/>
                    </a:p>
                  </a:txBody>
                  <a:tcPr/>
                </a:tc>
                <a:extLst>
                  <a:ext uri="{0D108BD9-81ED-4DB2-BD59-A6C34878D82A}">
                    <a16:rowId xmlns:a16="http://schemas.microsoft.com/office/drawing/2014/main" val="2153774635"/>
                  </a:ext>
                </a:extLst>
              </a:tr>
              <a:tr h="370840">
                <a:tc>
                  <a:txBody>
                    <a:bodyPr/>
                    <a:lstStyle/>
                    <a:p>
                      <a:r>
                        <a:rPr lang="es-ES" sz="1500" b="1" dirty="0">
                          <a:latin typeface="Work Sans Light" pitchFamily="2" charset="77"/>
                        </a:rPr>
                        <a:t>¿Cuáles son los datos de entrada conocidos?</a:t>
                      </a:r>
                      <a:endParaRPr lang="es-CO" sz="1500" b="1" dirty="0"/>
                    </a:p>
                  </a:txBody>
                  <a:tcPr/>
                </a:tc>
                <a:tc>
                  <a:txBody>
                    <a:bodyPr/>
                    <a:lstStyle/>
                    <a:p>
                      <a:endParaRPr lang="es-CO" sz="1500" b="1" dirty="0"/>
                    </a:p>
                  </a:txBody>
                  <a:tcPr/>
                </a:tc>
                <a:extLst>
                  <a:ext uri="{0D108BD9-81ED-4DB2-BD59-A6C34878D82A}">
                    <a16:rowId xmlns:a16="http://schemas.microsoft.com/office/drawing/2014/main" val="2058987046"/>
                  </a:ext>
                </a:extLst>
              </a:tr>
              <a:tr h="370840">
                <a:tc>
                  <a:txBody>
                    <a:bodyPr/>
                    <a:lstStyle/>
                    <a:p>
                      <a:r>
                        <a:rPr lang="es-ES" sz="1500" b="1" dirty="0">
                          <a:latin typeface="Work Sans Light" pitchFamily="2" charset="77"/>
                        </a:rPr>
                        <a:t>¿Cuál es la incógnita o qué debemos calcular? </a:t>
                      </a:r>
                      <a:endParaRPr lang="es-CO" sz="1500" b="1" dirty="0"/>
                    </a:p>
                  </a:txBody>
                  <a:tcPr/>
                </a:tc>
                <a:tc>
                  <a:txBody>
                    <a:bodyPr/>
                    <a:lstStyle/>
                    <a:p>
                      <a:endParaRPr lang="es-CO" sz="1500" b="1" dirty="0"/>
                    </a:p>
                  </a:txBody>
                  <a:tcPr/>
                </a:tc>
                <a:extLst>
                  <a:ext uri="{0D108BD9-81ED-4DB2-BD59-A6C34878D82A}">
                    <a16:rowId xmlns:a16="http://schemas.microsoft.com/office/drawing/2014/main" val="2601318433"/>
                  </a:ext>
                </a:extLst>
              </a:tr>
              <a:tr h="370840">
                <a:tc>
                  <a:txBody>
                    <a:bodyPr/>
                    <a:lstStyle/>
                    <a:p>
                      <a:r>
                        <a:rPr lang="es-ES" sz="1500" b="1" dirty="0">
                          <a:latin typeface="Work Sans Light" pitchFamily="2" charset="77"/>
                        </a:rPr>
                        <a:t>¿Los datos se pueden agrupar en categorías? </a:t>
                      </a:r>
                      <a:endParaRPr lang="es-CO" sz="1500" b="1" dirty="0"/>
                    </a:p>
                  </a:txBody>
                  <a:tcPr/>
                </a:tc>
                <a:tc>
                  <a:txBody>
                    <a:bodyPr/>
                    <a:lstStyle/>
                    <a:p>
                      <a:endParaRPr lang="es-CO" sz="1500" b="1" dirty="0"/>
                    </a:p>
                  </a:txBody>
                  <a:tcPr/>
                </a:tc>
                <a:extLst>
                  <a:ext uri="{0D108BD9-81ED-4DB2-BD59-A6C34878D82A}">
                    <a16:rowId xmlns:a16="http://schemas.microsoft.com/office/drawing/2014/main" val="1709398845"/>
                  </a:ext>
                </a:extLst>
              </a:tr>
              <a:tr h="370840">
                <a:tc>
                  <a:txBody>
                    <a:bodyPr/>
                    <a:lstStyle/>
                    <a:p>
                      <a:r>
                        <a:rPr lang="es-ES" sz="1500" b="1" dirty="0">
                          <a:latin typeface="Work Sans Light" pitchFamily="2" charset="77"/>
                        </a:rPr>
                        <a:t>¿Qué información adicional hace falta para resolver el problema? </a:t>
                      </a:r>
                      <a:endParaRPr lang="es-CO" sz="1500" b="1" dirty="0"/>
                    </a:p>
                  </a:txBody>
                  <a:tcPr/>
                </a:tc>
                <a:tc>
                  <a:txBody>
                    <a:bodyPr/>
                    <a:lstStyle/>
                    <a:p>
                      <a:endParaRPr lang="es-CO" sz="1500" b="1" dirty="0"/>
                    </a:p>
                  </a:txBody>
                  <a:tcPr/>
                </a:tc>
                <a:extLst>
                  <a:ext uri="{0D108BD9-81ED-4DB2-BD59-A6C34878D82A}">
                    <a16:rowId xmlns:a16="http://schemas.microsoft.com/office/drawing/2014/main" val="2799047801"/>
                  </a:ext>
                </a:extLst>
              </a:tr>
            </a:tbl>
          </a:graphicData>
        </a:graphic>
      </p:graphicFrame>
    </p:spTree>
    <p:extLst>
      <p:ext uri="{BB962C8B-B14F-4D97-AF65-F5344CB8AC3E}">
        <p14:creationId xmlns:p14="http://schemas.microsoft.com/office/powerpoint/2010/main" val="3962496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221246"/>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2. Evidencia de producto: GA3-220501093-AA1-EV02 taller de resolución de problemas de algoritmos en pseudocódigo y diagramas de flujo.</a:t>
            </a:r>
          </a:p>
        </p:txBody>
      </p:sp>
      <p:sp>
        <p:nvSpPr>
          <p:cNvPr id="2" name="CuadroTexto 1">
            <a:extLst>
              <a:ext uri="{FF2B5EF4-FFF2-40B4-BE49-F238E27FC236}">
                <a16:creationId xmlns:a16="http://schemas.microsoft.com/office/drawing/2014/main" id="{05C91B34-A9AF-EE63-68C6-548DAAE8E80E}"/>
              </a:ext>
            </a:extLst>
          </p:cNvPr>
          <p:cNvSpPr txBox="1"/>
          <p:nvPr/>
        </p:nvSpPr>
        <p:spPr>
          <a:xfrm>
            <a:off x="353222" y="1155280"/>
            <a:ext cx="11485555" cy="3744358"/>
          </a:xfrm>
          <a:prstGeom prst="rect">
            <a:avLst/>
          </a:prstGeom>
          <a:noFill/>
        </p:spPr>
        <p:txBody>
          <a:bodyPr wrap="square">
            <a:spAutoFit/>
          </a:bodyPr>
          <a:lstStyle/>
          <a:p>
            <a:pPr algn="just">
              <a:lnSpc>
                <a:spcPct val="150000"/>
              </a:lnSpc>
            </a:pPr>
            <a:r>
              <a:rPr lang="es-ES" sz="1600" b="1" dirty="0">
                <a:latin typeface="Work Sans Light" pitchFamily="2" charset="77"/>
              </a:rPr>
              <a:t>Sección 2 Taller </a:t>
            </a:r>
          </a:p>
          <a:p>
            <a:pPr algn="just">
              <a:lnSpc>
                <a:spcPct val="150000"/>
              </a:lnSpc>
            </a:pPr>
            <a:r>
              <a:rPr lang="es-ES" sz="1600" dirty="0">
                <a:latin typeface="Work Sans Light" pitchFamily="2" charset="77"/>
              </a:rPr>
              <a:t>Elabore una investigación corta usando los materiales disponibles en la biblioteca o Internet respecto a los fundamentos para la resolución de problemas con algoritmos, seleccione por lo menos tres fuentes que le permitan resolver las siguientes preguntas: </a:t>
            </a:r>
          </a:p>
          <a:p>
            <a:pPr algn="just">
              <a:lnSpc>
                <a:spcPct val="150000"/>
              </a:lnSpc>
            </a:pPr>
            <a:endParaRPr lang="es-ES" sz="1600" dirty="0">
              <a:latin typeface="Work Sans Light" pitchFamily="2" charset="77"/>
            </a:endParaRPr>
          </a:p>
          <a:p>
            <a:pPr marL="285750" indent="-285750" algn="just">
              <a:lnSpc>
                <a:spcPct val="150000"/>
              </a:lnSpc>
              <a:buFont typeface="Arial" panose="020B0604020202020204" pitchFamily="34" charset="0"/>
              <a:buChar char="•"/>
            </a:pPr>
            <a:r>
              <a:rPr lang="es-ES" sz="1600" dirty="0">
                <a:latin typeface="Work Sans Light" pitchFamily="2" charset="77"/>
              </a:rPr>
              <a:t>Definición de diagrama de flujo. </a:t>
            </a:r>
          </a:p>
          <a:p>
            <a:pPr marL="285750" indent="-285750" algn="just">
              <a:lnSpc>
                <a:spcPct val="150000"/>
              </a:lnSpc>
              <a:buFont typeface="Arial" panose="020B0604020202020204" pitchFamily="34" charset="0"/>
              <a:buChar char="•"/>
            </a:pPr>
            <a:r>
              <a:rPr lang="es-ES" sz="1600" dirty="0">
                <a:latin typeface="Work Sans Light" pitchFamily="2" charset="77"/>
              </a:rPr>
              <a:t>Símbolos más importantes. </a:t>
            </a:r>
          </a:p>
          <a:p>
            <a:pPr marL="285750" indent="-285750" algn="just">
              <a:lnSpc>
                <a:spcPct val="150000"/>
              </a:lnSpc>
              <a:buFont typeface="Arial" panose="020B0604020202020204" pitchFamily="34" charset="0"/>
              <a:buChar char="•"/>
            </a:pPr>
            <a:r>
              <a:rPr lang="es-ES" sz="1600" dirty="0">
                <a:latin typeface="Work Sans Light" pitchFamily="2" charset="77"/>
              </a:rPr>
              <a:t>Seleccionar uno de los problemas de la sección 1 y representarlo en su equivalente diagrama de flujo. </a:t>
            </a:r>
          </a:p>
          <a:p>
            <a:pPr marL="285750" indent="-285750" algn="just">
              <a:lnSpc>
                <a:spcPct val="150000"/>
              </a:lnSpc>
              <a:buFont typeface="Arial" panose="020B0604020202020204" pitchFamily="34" charset="0"/>
              <a:buChar char="•"/>
            </a:pPr>
            <a:r>
              <a:rPr lang="es-ES" sz="1600" dirty="0">
                <a:latin typeface="Work Sans Light" pitchFamily="2" charset="77"/>
              </a:rPr>
              <a:t>Respecto a los diagramas de flujo: Referenciar las fuentes de información utilizadas para resolver cada una de las preguntas utilizando el formato de las Normas APA.</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CuadroTexto 1">
            <a:extLst>
              <a:ext uri="{FF2B5EF4-FFF2-40B4-BE49-F238E27FC236}">
                <a16:creationId xmlns:a16="http://schemas.microsoft.com/office/drawing/2014/main" id="{7BD149D3-71DE-180F-E0A8-ACB17FB94ABD}"/>
              </a:ext>
            </a:extLst>
          </p:cNvPr>
          <p:cNvSpPr txBox="1"/>
          <p:nvPr/>
        </p:nvSpPr>
        <p:spPr>
          <a:xfrm>
            <a:off x="353222" y="4947049"/>
            <a:ext cx="11485555" cy="1897699"/>
          </a:xfrm>
          <a:prstGeom prst="rect">
            <a:avLst/>
          </a:prstGeom>
          <a:noFill/>
        </p:spPr>
        <p:txBody>
          <a:bodyPr wrap="square">
            <a:spAutoFit/>
          </a:bodyPr>
          <a:lstStyle/>
          <a:p>
            <a:pPr>
              <a:lnSpc>
                <a:spcPct val="150000"/>
              </a:lnSpc>
            </a:pPr>
            <a:r>
              <a:rPr lang="es-ES" sz="1600" b="1" dirty="0">
                <a:latin typeface="Work Sans Light" pitchFamily="2" charset="77"/>
              </a:rPr>
              <a:t>Lineamientos generales para la entrega de la evidencia: </a:t>
            </a:r>
          </a:p>
          <a:p>
            <a:pPr marL="285750" indent="-285750" algn="just">
              <a:lnSpc>
                <a:spcPct val="150000"/>
              </a:lnSpc>
              <a:buFont typeface="Arial" panose="020B0604020202020204" pitchFamily="34" charset="0"/>
              <a:buChar char="•"/>
            </a:pPr>
            <a:r>
              <a:rPr lang="es-ES" sz="1600" b="1" dirty="0">
                <a:latin typeface="Work Sans Light" pitchFamily="2" charset="77"/>
              </a:rPr>
              <a:t>Productos para entregar</a:t>
            </a:r>
            <a:r>
              <a:rPr lang="es-ES" sz="1600" dirty="0">
                <a:latin typeface="Work Sans Light" pitchFamily="2" charset="77"/>
              </a:rPr>
              <a:t> documento Taller Sección 1 y 2</a:t>
            </a:r>
            <a:r>
              <a:rPr lang="es-CO" sz="1600" dirty="0">
                <a:latin typeface="Work Sans Light" pitchFamily="2" charset="77"/>
              </a:rPr>
              <a:t>. </a:t>
            </a:r>
            <a:endParaRPr lang="es-ES" sz="1600" dirty="0">
              <a:latin typeface="Work Sans Light" pitchFamily="2" charset="77"/>
            </a:endParaRPr>
          </a:p>
          <a:p>
            <a:pPr marL="285750" indent="-285750" algn="just">
              <a:lnSpc>
                <a:spcPct val="150000"/>
              </a:lnSpc>
              <a:buFont typeface="Arial" panose="020B0604020202020204" pitchFamily="34" charset="0"/>
              <a:buChar char="•"/>
            </a:pPr>
            <a:r>
              <a:rPr lang="es-ES" sz="1600" b="1" dirty="0">
                <a:latin typeface="Work Sans Light" pitchFamily="2" charset="77"/>
              </a:rPr>
              <a:t>Formato:</a:t>
            </a:r>
            <a:r>
              <a:rPr lang="es-ES" sz="1600" dirty="0">
                <a:latin typeface="Work Sans Light" pitchFamily="2" charset="77"/>
              </a:rPr>
              <a:t> PDF </a:t>
            </a:r>
          </a:p>
          <a:p>
            <a:pPr marL="285750" indent="-285750" algn="just">
              <a:lnSpc>
                <a:spcPct val="150000"/>
              </a:lnSpc>
              <a:buFont typeface="Arial" panose="020B0604020202020204" pitchFamily="34" charset="0"/>
              <a:buChar char="•"/>
            </a:pPr>
            <a:r>
              <a:rPr lang="es-ES" sz="1600" b="1" dirty="0">
                <a:latin typeface="Work Sans Light" pitchFamily="2" charset="77"/>
              </a:rPr>
              <a:t>Para hacer el envío de la evidencia </a:t>
            </a:r>
            <a:r>
              <a:rPr lang="es-ES" sz="1600" dirty="0">
                <a:latin typeface="Work Sans Light" pitchFamily="2" charset="77"/>
              </a:rPr>
              <a:t>remítase al área de la actividad correspondiente y acceda al espacio</a:t>
            </a:r>
            <a:r>
              <a:rPr lang="es-ES" sz="1600" b="1" dirty="0">
                <a:latin typeface="Work Sans Light" pitchFamily="2" charset="77"/>
              </a:rPr>
              <a:t> taller de resolución de problemas de algoritmos en pseudocódigo y diagramas de flujo - GA3220501093-AA1-EV02.</a:t>
            </a:r>
          </a:p>
        </p:txBody>
      </p:sp>
    </p:spTree>
    <p:extLst>
      <p:ext uri="{BB962C8B-B14F-4D97-AF65-F5344CB8AC3E}">
        <p14:creationId xmlns:p14="http://schemas.microsoft.com/office/powerpoint/2010/main" val="310569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BB6F714C-A6B0-54AE-507A-D0700714D94B}"/>
              </a:ext>
            </a:extLst>
          </p:cNvPr>
          <p:cNvSpPr txBox="1">
            <a:spLocks/>
          </p:cNvSpPr>
          <p:nvPr/>
        </p:nvSpPr>
        <p:spPr>
          <a:xfrm>
            <a:off x="456236" y="221246"/>
            <a:ext cx="10569573" cy="5278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es-ES" sz="1800" b="1" dirty="0">
                <a:solidFill>
                  <a:schemeClr val="bg1"/>
                </a:solidFill>
                <a:latin typeface="Work Sans Light" pitchFamily="2" charset="77"/>
              </a:rPr>
              <a:t>Diagramas de flujo - DDF</a:t>
            </a:r>
          </a:p>
        </p:txBody>
      </p:sp>
      <p:sp>
        <p:nvSpPr>
          <p:cNvPr id="2" name="CuadroTexto 1">
            <a:extLst>
              <a:ext uri="{FF2B5EF4-FFF2-40B4-BE49-F238E27FC236}">
                <a16:creationId xmlns:a16="http://schemas.microsoft.com/office/drawing/2014/main" id="{05C91B34-A9AF-EE63-68C6-548DAAE8E80E}"/>
              </a:ext>
            </a:extLst>
          </p:cNvPr>
          <p:cNvSpPr txBox="1"/>
          <p:nvPr/>
        </p:nvSpPr>
        <p:spPr>
          <a:xfrm>
            <a:off x="771618" y="1285112"/>
            <a:ext cx="2605016" cy="4113690"/>
          </a:xfrm>
          <a:prstGeom prst="rect">
            <a:avLst/>
          </a:prstGeom>
          <a:noFill/>
        </p:spPr>
        <p:txBody>
          <a:bodyPr wrap="square">
            <a:spAutoFit/>
          </a:bodyPr>
          <a:lstStyle/>
          <a:p>
            <a:pPr>
              <a:lnSpc>
                <a:spcPct val="150000"/>
              </a:lnSpc>
            </a:pPr>
            <a:r>
              <a:rPr lang="es-ES" sz="1600" b="1" dirty="0">
                <a:latin typeface="Work Sans Light" pitchFamily="2" charset="77"/>
              </a:rPr>
              <a:t>Definición</a:t>
            </a:r>
          </a:p>
          <a:p>
            <a:pPr>
              <a:lnSpc>
                <a:spcPct val="150000"/>
              </a:lnSpc>
            </a:pPr>
            <a:r>
              <a:rPr lang="es-ES" sz="1600" dirty="0">
                <a:latin typeface="Work Sans Light" pitchFamily="2" charset="77"/>
              </a:rPr>
              <a:t>Es una representación gráfica y secuencial de un proceso, algoritmo o sistema, que utiliza símbolos estandarizados (como rectángulos, rombos y flechas) para mostrar los pasos lógicos de forma ordenada.</a:t>
            </a:r>
          </a:p>
        </p:txBody>
      </p:sp>
      <p:sp>
        <p:nvSpPr>
          <p:cNvPr id="4" name="Rectangle 3">
            <a:extLst>
              <a:ext uri="{FF2B5EF4-FFF2-40B4-BE49-F238E27FC236}">
                <a16:creationId xmlns:a16="http://schemas.microsoft.com/office/drawing/2014/main" id="{F763E98E-BFA0-E9CA-BAEF-127B8DDB8969}"/>
              </a:ext>
            </a:extLst>
          </p:cNvPr>
          <p:cNvSpPr/>
          <p:nvPr/>
        </p:nvSpPr>
        <p:spPr>
          <a:xfrm>
            <a:off x="11150221" y="286603"/>
            <a:ext cx="791570" cy="764276"/>
          </a:xfrm>
          <a:prstGeom prst="rect">
            <a:avLst/>
          </a:prstGeom>
          <a:solidFill>
            <a:srgbClr val="01AD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5" name="Group 14">
            <a:extLst>
              <a:ext uri="{FF2B5EF4-FFF2-40B4-BE49-F238E27FC236}">
                <a16:creationId xmlns:a16="http://schemas.microsoft.com/office/drawing/2014/main" id="{EFAC41B1-85EC-BFE3-D67E-4762F78574B4}"/>
              </a:ext>
            </a:extLst>
          </p:cNvPr>
          <p:cNvGrpSpPr/>
          <p:nvPr/>
        </p:nvGrpSpPr>
        <p:grpSpPr>
          <a:xfrm>
            <a:off x="4431303" y="1285112"/>
            <a:ext cx="2899089" cy="5166798"/>
            <a:chOff x="4657069" y="1285112"/>
            <a:chExt cx="2899089" cy="5166798"/>
          </a:xfrm>
        </p:grpSpPr>
        <p:sp>
          <p:nvSpPr>
            <p:cNvPr id="6" name="CuadroTexto 1">
              <a:extLst>
                <a:ext uri="{FF2B5EF4-FFF2-40B4-BE49-F238E27FC236}">
                  <a16:creationId xmlns:a16="http://schemas.microsoft.com/office/drawing/2014/main" id="{AC5820ED-DBA9-FAB6-3237-36FCD8B5B48F}"/>
                </a:ext>
              </a:extLst>
            </p:cNvPr>
            <p:cNvSpPr txBox="1"/>
            <p:nvPr/>
          </p:nvSpPr>
          <p:spPr>
            <a:xfrm>
              <a:off x="4804105" y="1285112"/>
              <a:ext cx="2605016" cy="2267031"/>
            </a:xfrm>
            <a:prstGeom prst="rect">
              <a:avLst/>
            </a:prstGeom>
            <a:noFill/>
          </p:spPr>
          <p:txBody>
            <a:bodyPr wrap="square">
              <a:spAutoFit/>
            </a:bodyPr>
            <a:lstStyle/>
            <a:p>
              <a:pPr>
                <a:lnSpc>
                  <a:spcPct val="150000"/>
                </a:lnSpc>
              </a:pPr>
              <a:r>
                <a:rPr lang="es-ES" sz="1600" b="1" dirty="0">
                  <a:latin typeface="Work Sans Light" pitchFamily="2" charset="77"/>
                </a:rPr>
                <a:t>Símbolos</a:t>
              </a:r>
            </a:p>
            <a:p>
              <a:pPr>
                <a:lnSpc>
                  <a:spcPct val="150000"/>
                </a:lnSpc>
              </a:pPr>
              <a:r>
                <a:rPr lang="es-ES" sz="1600" dirty="0">
                  <a:latin typeface="Work Sans Light" pitchFamily="2" charset="77"/>
                </a:rPr>
                <a:t>Usa óvalos para inicio/fin, rectángulos para actividades, rombos para decisiones y flechas para indicar la secuencia. </a:t>
              </a:r>
            </a:p>
          </p:txBody>
        </p:sp>
        <p:pic>
          <p:nvPicPr>
            <p:cNvPr id="2052" name="Picture 4" descr="Símbolos Comunes de Diagrama de Flujo y su Significado">
              <a:extLst>
                <a:ext uri="{FF2B5EF4-FFF2-40B4-BE49-F238E27FC236}">
                  <a16:creationId xmlns:a16="http://schemas.microsoft.com/office/drawing/2014/main" id="{E2266697-0E18-DBFD-BFEE-444C23D7AA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15"/>
            <a:stretch/>
          </p:blipFill>
          <p:spPr bwMode="auto">
            <a:xfrm>
              <a:off x="4657069" y="3819142"/>
              <a:ext cx="2899089" cy="216571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F37E06-C413-1D9E-CA84-FA409F1C7566}"/>
                </a:ext>
              </a:extLst>
            </p:cNvPr>
            <p:cNvSpPr txBox="1"/>
            <p:nvPr/>
          </p:nvSpPr>
          <p:spPr>
            <a:xfrm>
              <a:off x="4899287" y="6251855"/>
              <a:ext cx="2414653" cy="200055"/>
            </a:xfrm>
            <a:prstGeom prst="rect">
              <a:avLst/>
            </a:prstGeom>
            <a:noFill/>
          </p:spPr>
          <p:txBody>
            <a:bodyPr wrap="square">
              <a:spAutoFit/>
            </a:bodyPr>
            <a:lstStyle/>
            <a:p>
              <a:pPr algn="ctr"/>
              <a:r>
                <a:rPr lang="es-CO" sz="700" dirty="0"/>
                <a:t>https://gitmind.com/es/simbolos-del-diagrama-de-flujo.html</a:t>
              </a:r>
            </a:p>
          </p:txBody>
        </p:sp>
      </p:grpSp>
      <p:grpSp>
        <p:nvGrpSpPr>
          <p:cNvPr id="16" name="Group 15">
            <a:extLst>
              <a:ext uri="{FF2B5EF4-FFF2-40B4-BE49-F238E27FC236}">
                <a16:creationId xmlns:a16="http://schemas.microsoft.com/office/drawing/2014/main" id="{48CA6AD4-178E-097F-BDEA-72DC909966D8}"/>
              </a:ext>
            </a:extLst>
          </p:cNvPr>
          <p:cNvGrpSpPr/>
          <p:nvPr/>
        </p:nvGrpSpPr>
        <p:grpSpPr>
          <a:xfrm>
            <a:off x="8385061" y="1272420"/>
            <a:ext cx="3083145" cy="5694798"/>
            <a:chOff x="8385061" y="1272420"/>
            <a:chExt cx="3083145" cy="5694798"/>
          </a:xfrm>
        </p:grpSpPr>
        <p:sp>
          <p:nvSpPr>
            <p:cNvPr id="8" name="CuadroTexto 1">
              <a:extLst>
                <a:ext uri="{FF2B5EF4-FFF2-40B4-BE49-F238E27FC236}">
                  <a16:creationId xmlns:a16="http://schemas.microsoft.com/office/drawing/2014/main" id="{9ABB162B-0ADE-EC2A-C94E-1F7C085C69AC}"/>
                </a:ext>
              </a:extLst>
            </p:cNvPr>
            <p:cNvSpPr txBox="1"/>
            <p:nvPr/>
          </p:nvSpPr>
          <p:spPr>
            <a:xfrm>
              <a:off x="8385061" y="1272420"/>
              <a:ext cx="2605016" cy="420371"/>
            </a:xfrm>
            <a:prstGeom prst="rect">
              <a:avLst/>
            </a:prstGeom>
            <a:noFill/>
          </p:spPr>
          <p:txBody>
            <a:bodyPr wrap="square">
              <a:spAutoFit/>
            </a:bodyPr>
            <a:lstStyle/>
            <a:p>
              <a:pPr>
                <a:lnSpc>
                  <a:spcPct val="150000"/>
                </a:lnSpc>
              </a:pPr>
              <a:r>
                <a:rPr lang="es-ES" sz="1600" b="1" dirty="0">
                  <a:latin typeface="Work Sans Light" pitchFamily="2" charset="77"/>
                </a:rPr>
                <a:t>Ejemplos</a:t>
              </a:r>
              <a:r>
                <a:rPr lang="es-ES" sz="1600" dirty="0">
                  <a:latin typeface="Work Sans Light" pitchFamily="2" charset="77"/>
                </a:rPr>
                <a:t> </a:t>
              </a:r>
            </a:p>
          </p:txBody>
        </p:sp>
        <p:pic>
          <p:nvPicPr>
            <p:cNvPr id="12" name="Picture 11">
              <a:extLst>
                <a:ext uri="{FF2B5EF4-FFF2-40B4-BE49-F238E27FC236}">
                  <a16:creationId xmlns:a16="http://schemas.microsoft.com/office/drawing/2014/main" id="{BC4CB575-AB52-CBE6-6213-3E235CCB09D3}"/>
                </a:ext>
              </a:extLst>
            </p:cNvPr>
            <p:cNvPicPr>
              <a:picLocks noChangeAspect="1"/>
            </p:cNvPicPr>
            <p:nvPr/>
          </p:nvPicPr>
          <p:blipFill rotWithShape="1">
            <a:blip r:embed="rId4"/>
            <a:srcRect l="28521" t="10923" r="33340"/>
            <a:stretch/>
          </p:blipFill>
          <p:spPr>
            <a:xfrm>
              <a:off x="9757191" y="1272420"/>
              <a:ext cx="1711015" cy="5694798"/>
            </a:xfrm>
            <a:prstGeom prst="rect">
              <a:avLst/>
            </a:prstGeom>
          </p:spPr>
        </p:pic>
        <p:pic>
          <p:nvPicPr>
            <p:cNvPr id="2054" name="Picture 6">
              <a:extLst>
                <a:ext uri="{FF2B5EF4-FFF2-40B4-BE49-F238E27FC236}">
                  <a16:creationId xmlns:a16="http://schemas.microsoft.com/office/drawing/2014/main" id="{BF79F10D-916D-C359-3E03-4A1B6A6895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5061" y="1986720"/>
              <a:ext cx="1276029" cy="359886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41199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26588</TotalTime>
  <Words>1599</Words>
  <Application>Microsoft Office PowerPoint</Application>
  <PresentationFormat>Widescreen</PresentationFormat>
  <Paragraphs>208</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Google Sans</vt:lpstr>
      <vt:lpstr>WORK SANS BOLD ROMAN</vt:lpstr>
      <vt:lpstr>WORK SANS BOLD ROMAN</vt:lpstr>
      <vt:lpstr>Work Sans Light</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Tatiana Forero</cp:lastModifiedBy>
  <cp:revision>534</cp:revision>
  <dcterms:created xsi:type="dcterms:W3CDTF">2020-10-01T23:51:28Z</dcterms:created>
  <dcterms:modified xsi:type="dcterms:W3CDTF">2026-03-27T07:18:47Z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