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621" r:id="rId2"/>
    <p:sldId id="538" r:id="rId3"/>
    <p:sldId id="593" r:id="rId4"/>
    <p:sldId id="623" r:id="rId5"/>
    <p:sldId id="619" r:id="rId6"/>
    <p:sldId id="622" r:id="rId7"/>
    <p:sldId id="624" r:id="rId8"/>
    <p:sldId id="625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00AD00"/>
    <a:srgbClr val="FF6C00"/>
    <a:srgbClr val="01AD01"/>
    <a:srgbClr val="00FFFF"/>
    <a:srgbClr val="1F3B50"/>
    <a:srgbClr val="FFF5EA"/>
    <a:srgbClr val="4D4D4C"/>
    <a:srgbClr val="343433"/>
    <a:srgbClr val="38A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61" autoAdjust="0"/>
    <p:restoredTop sz="97242"/>
  </p:normalViewPr>
  <p:slideViewPr>
    <p:cSldViewPr snapToGrid="0">
      <p:cViewPr varScale="1">
        <p:scale>
          <a:sx n="72" d="100"/>
          <a:sy n="72" d="100"/>
        </p:scale>
        <p:origin x="822" y="78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0B04F6-DA67-8975-7424-AAACEE8607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B3CE7-1EA9-6913-C780-749EDBCA9CF2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3378154" y="2740992"/>
            <a:ext cx="5939274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5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Propuesta Técnica y Financiera</a:t>
            </a:r>
            <a:endParaRPr lang="es-CO" sz="5400" b="1" dirty="0">
              <a:solidFill>
                <a:prstClr val="white"/>
              </a:solidFill>
              <a:latin typeface="WORK SANS BOLD ROMAN" pitchFamily="2" charset="77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5C8F5A-C864-B874-5A57-087650BA4A6E}"/>
              </a:ext>
            </a:extLst>
          </p:cNvPr>
          <p:cNvCxnSpPr/>
          <p:nvPr/>
        </p:nvCxnSpPr>
        <p:spPr>
          <a:xfrm>
            <a:off x="3008244" y="1964635"/>
            <a:ext cx="0" cy="292873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48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963671" y="2171425"/>
            <a:ext cx="97573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b="1" dirty="0">
                <a:solidFill>
                  <a:srgbClr val="404040"/>
                </a:solidFill>
                <a:latin typeface="Work Sans Bold Roman" pitchFamily="2" charset="77"/>
              </a:rPr>
              <a:t>GA2-220501094-AA3: </a:t>
            </a:r>
            <a:r>
              <a:rPr lang="es-ES" sz="4400" dirty="0">
                <a:solidFill>
                  <a:srgbClr val="404040"/>
                </a:solidFill>
                <a:latin typeface="Work Sans Bold Roman" pitchFamily="2" charset="77"/>
              </a:rPr>
              <a:t>elaborar la propuesta técnica y financiera a partir de los referentes establecidos.</a:t>
            </a:r>
            <a:r>
              <a:rPr lang="es-ES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DC7DF3-ED90-F4A5-DBB0-C2559B866658}"/>
              </a:ext>
            </a:extLst>
          </p:cNvPr>
          <p:cNvSpPr/>
          <p:nvPr/>
        </p:nvSpPr>
        <p:spPr>
          <a:xfrm>
            <a:off x="10085696" y="887104"/>
            <a:ext cx="1142633" cy="1284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D84E4B-2A18-5A18-D61A-3477BD3DA2F3}"/>
              </a:ext>
            </a:extLst>
          </p:cNvPr>
          <p:cNvSpPr/>
          <p:nvPr/>
        </p:nvSpPr>
        <p:spPr>
          <a:xfrm>
            <a:off x="916596" y="4784843"/>
            <a:ext cx="4133076" cy="1284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Evidencias</a:t>
            </a:r>
            <a:endParaRPr lang="es-CO" sz="3600" b="1" dirty="0">
              <a:solidFill>
                <a:prstClr val="white"/>
              </a:solidFill>
              <a:latin typeface="WORK SANS BOLD ROMAN" pitchFamily="2" charset="77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9A0E59E-A17E-42FD-5E0D-F30AE73B271F}"/>
              </a:ext>
            </a:extLst>
          </p:cNvPr>
          <p:cNvSpPr txBox="1"/>
          <p:nvPr/>
        </p:nvSpPr>
        <p:spPr>
          <a:xfrm>
            <a:off x="456236" y="2533249"/>
            <a:ext cx="11171657" cy="2267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600" b="1" dirty="0">
                <a:latin typeface="Work Sans Light" pitchFamily="2" charset="77"/>
              </a:rPr>
              <a:t>Evidencia GA2-220501094-AA3-EV01: </a:t>
            </a:r>
            <a:r>
              <a:rPr lang="es-ES" sz="1600" dirty="0">
                <a:latin typeface="Work Sans Light" pitchFamily="2" charset="77"/>
              </a:rPr>
              <a:t>diseño de tablas comparativas sobre presupuestos de hardware y software.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600" b="1" dirty="0">
                <a:latin typeface="Work Sans Light" pitchFamily="2" charset="77"/>
              </a:rPr>
              <a:t>Evidencias GA2-220501094-AA3-EV02:</a:t>
            </a:r>
            <a:r>
              <a:rPr lang="es-ES" sz="1600" dirty="0">
                <a:latin typeface="Work Sans Light" pitchFamily="2" charset="77"/>
              </a:rPr>
              <a:t> propuesta técnica y económica para la implementación del proyecto.</a:t>
            </a:r>
          </a:p>
          <a:p>
            <a:pPr algn="just">
              <a:lnSpc>
                <a:spcPct val="150000"/>
              </a:lnSpc>
            </a:pPr>
            <a:endParaRPr lang="es-ES" sz="1600" dirty="0"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r>
              <a:rPr lang="es-ES" sz="1600" b="1" dirty="0">
                <a:latin typeface="Work Sans Light" pitchFamily="2" charset="77"/>
              </a:rPr>
              <a:t>Material de formación: </a:t>
            </a:r>
            <a:r>
              <a:rPr lang="es-ES" sz="1600" dirty="0">
                <a:latin typeface="Work Sans Light" pitchFamily="2" charset="77"/>
              </a:rPr>
              <a:t>para el desarrollo de esta actividad es importante la lectura y análisis del material de formación</a:t>
            </a:r>
            <a:r>
              <a:rPr lang="es-ES" sz="1600" b="1" dirty="0">
                <a:latin typeface="Work Sans Light" pitchFamily="2" charset="77"/>
              </a:rPr>
              <a:t>: </a:t>
            </a:r>
            <a:r>
              <a:rPr lang="es-CO" sz="1600" b="1" dirty="0">
                <a:latin typeface="Work Sans Light" pitchFamily="2" charset="77"/>
              </a:rPr>
              <a:t>“Propuesta técnica”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B3CE7-1EA9-6913-C780-749EDBCA9CF2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85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0B04F6-DA67-8975-7424-AAACEE8607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B3CE7-1EA9-6913-C780-749EDBCA9CF2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3378154" y="2330177"/>
            <a:ext cx="6852524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dirty="0">
                <a:solidFill>
                  <a:prstClr val="white"/>
                </a:solidFill>
                <a:latin typeface="WORK SANS BOLD ROMAN" pitchFamily="2" charset="77"/>
              </a:rPr>
              <a:t>Tablas comparativas sobre presupuestos de hardware y software.</a:t>
            </a:r>
            <a:endParaRPr lang="es-CO" sz="5400" b="1" dirty="0">
              <a:solidFill>
                <a:prstClr val="white"/>
              </a:solidFill>
              <a:latin typeface="WORK SANS BOLD ROMAN" pitchFamily="2" charset="77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5C8F5A-C864-B874-5A57-087650BA4A6E}"/>
              </a:ext>
            </a:extLst>
          </p:cNvPr>
          <p:cNvCxnSpPr/>
          <p:nvPr/>
        </p:nvCxnSpPr>
        <p:spPr>
          <a:xfrm>
            <a:off x="3008244" y="1964635"/>
            <a:ext cx="0" cy="292873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215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221246"/>
            <a:ext cx="10569573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800" b="1" dirty="0">
                <a:solidFill>
                  <a:schemeClr val="bg1"/>
                </a:solidFill>
                <a:latin typeface="Work Sans Light" pitchFamily="2" charset="77"/>
              </a:rPr>
              <a:t>Evidencia GA2-220501094-AA3-EV01: diseño de tablas comparativas sobre presupuestos de hardware y software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5C91B34-A9AF-EE63-68C6-548DAAE8E80E}"/>
              </a:ext>
            </a:extLst>
          </p:cNvPr>
          <p:cNvSpPr txBox="1"/>
          <p:nvPr/>
        </p:nvSpPr>
        <p:spPr>
          <a:xfrm>
            <a:off x="456236" y="1599774"/>
            <a:ext cx="11192425" cy="485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Las tablas comparativas son utilizadas para estimar costos en el presupuesto de software y hardware. Por tal motivo, diseñe dichas tablas teniendo en cuenta lo siguiente: </a:t>
            </a:r>
          </a:p>
          <a:p>
            <a:pPr algn="just">
              <a:lnSpc>
                <a:spcPct val="150000"/>
              </a:lnSpc>
            </a:pPr>
            <a:endParaRPr lang="es-ES" sz="1600" dirty="0">
              <a:latin typeface="Work Sans Light" pitchFamily="2" charset="7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latin typeface="Work Sans Light" pitchFamily="2" charset="77"/>
              </a:rPr>
              <a:t>Para elaborar el documento se deben seguir las condiciones básicas estipuladas en el componente formativo de la propuesta técnica.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latin typeface="Work Sans Light" pitchFamily="2" charset="77"/>
              </a:rPr>
              <a:t>Presentación de un documento escrito, es decir, el documento debe tener como mínimo una portada, introducción, contenido y conclusión.  </a:t>
            </a:r>
          </a:p>
          <a:p>
            <a:pPr algn="just">
              <a:lnSpc>
                <a:spcPct val="150000"/>
              </a:lnSpc>
            </a:pPr>
            <a:endParaRPr lang="es-ES" sz="1600" dirty="0">
              <a:latin typeface="Work Sans Light" pitchFamily="2" charset="77"/>
            </a:endParaRP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Work Sans Light" pitchFamily="2" charset="77"/>
              </a:rPr>
              <a:t>Lineamientos generales para la entrega de la evidencia: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>
                <a:latin typeface="Work Sans Light" pitchFamily="2" charset="77"/>
              </a:rPr>
              <a:t>Productos para entregar</a:t>
            </a:r>
            <a:r>
              <a:rPr lang="es-ES" sz="1600" dirty="0">
                <a:latin typeface="Work Sans Light" pitchFamily="2" charset="77"/>
              </a:rPr>
              <a:t>: diseño de tablas comparativas sobre presupuestos de hardware y software</a:t>
            </a:r>
            <a:r>
              <a:rPr lang="es-CO" sz="1600" dirty="0">
                <a:latin typeface="Work Sans Light" pitchFamily="2" charset="77"/>
              </a:rPr>
              <a:t>. </a:t>
            </a:r>
            <a:endParaRPr lang="es-ES" sz="1600" dirty="0">
              <a:latin typeface="Work Sans Light" pitchFamily="2" charset="7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>
                <a:latin typeface="Work Sans Light" pitchFamily="2" charset="77"/>
              </a:rPr>
              <a:t>Formato:</a:t>
            </a:r>
            <a:r>
              <a:rPr lang="es-ES" sz="1600" dirty="0">
                <a:latin typeface="Work Sans Light" pitchFamily="2" charset="77"/>
              </a:rPr>
              <a:t> Word o Excel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>
                <a:latin typeface="Work Sans Light" pitchFamily="2" charset="77"/>
              </a:rPr>
              <a:t>Para hacer el envío de la evidencia </a:t>
            </a:r>
            <a:r>
              <a:rPr lang="es-ES" sz="1600" dirty="0">
                <a:latin typeface="Work Sans Light" pitchFamily="2" charset="77"/>
              </a:rPr>
              <a:t>remítase al área de la actividad correspondiente y acceda al espacio</a:t>
            </a:r>
            <a:r>
              <a:rPr lang="es-ES" sz="1600" b="1" dirty="0">
                <a:latin typeface="Work Sans Light" pitchFamily="2" charset="77"/>
              </a:rPr>
              <a:t> Diseño de tablas comparativas sobre presupuestos de hardware y software. GA2-220501094- AA3EV01.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63E98E-BFA0-E9CA-BAEF-127B8DDB8969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907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0B04F6-DA67-8975-7424-AAACEE8607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B3CE7-1EA9-6913-C780-749EDBCA9CF2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3378154" y="2608467"/>
            <a:ext cx="5939274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dirty="0">
                <a:solidFill>
                  <a:prstClr val="white"/>
                </a:solidFill>
                <a:latin typeface="WORK SANS BOLD ROMAN" pitchFamily="2" charset="77"/>
              </a:rPr>
              <a:t>Propuesta técnica y económica</a:t>
            </a:r>
            <a:endParaRPr lang="es-CO" sz="5400" b="1" dirty="0">
              <a:solidFill>
                <a:prstClr val="white"/>
              </a:solidFill>
              <a:latin typeface="WORK SANS BOLD ROMAN" pitchFamily="2" charset="77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5C8F5A-C864-B874-5A57-087650BA4A6E}"/>
              </a:ext>
            </a:extLst>
          </p:cNvPr>
          <p:cNvCxnSpPr/>
          <p:nvPr/>
        </p:nvCxnSpPr>
        <p:spPr>
          <a:xfrm>
            <a:off x="3008244" y="1964635"/>
            <a:ext cx="0" cy="292873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55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221246"/>
            <a:ext cx="10569573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s-ES" sz="1800" b="1" dirty="0">
                <a:solidFill>
                  <a:schemeClr val="bg1"/>
                </a:solidFill>
                <a:latin typeface="Work Sans Light" pitchFamily="2" charset="77"/>
              </a:rPr>
              <a:t>2. Evidencias GA2-220501094-AA3-EV02: propuesta técnica y económica para la implementación del proyecto.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5C91B34-A9AF-EE63-68C6-548DAAE8E80E}"/>
              </a:ext>
            </a:extLst>
          </p:cNvPr>
          <p:cNvSpPr txBox="1"/>
          <p:nvPr/>
        </p:nvSpPr>
        <p:spPr>
          <a:xfrm>
            <a:off x="456236" y="1574167"/>
            <a:ext cx="11192425" cy="4851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La propuesta técnica es el documento que se entrega al posible cliente, en el cual se detalla la estrategia a desarrollar para darle solución a un problema existente, por medio de una solución de software. </a:t>
            </a:r>
          </a:p>
          <a:p>
            <a:pPr algn="just">
              <a:lnSpc>
                <a:spcPct val="150000"/>
              </a:lnSpc>
            </a:pPr>
            <a:endParaRPr lang="es-ES" sz="1600" dirty="0"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Por lo anterior y teniendo en cuenta los términos de referencia establecidos en el componente formativo sobre la propuesta técnica, elabore la propuesta técnica, la cual debe tener el siguiente contenido: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Presentación y saludos.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Alcance de la propuesta.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Valoración de la situación.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Opciones de propuesta.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Estimar costos.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Cotización.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Términos y condiciones.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La propuesta se debe enriquecer con un diseño o logo, como si fuera la papelería de una empresa real.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63E98E-BFA0-E9CA-BAEF-127B8DDB8969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533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221246"/>
            <a:ext cx="10569573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s-ES" sz="1800" b="1" dirty="0">
                <a:solidFill>
                  <a:schemeClr val="bg1"/>
                </a:solidFill>
                <a:latin typeface="Work Sans Light" pitchFamily="2" charset="77"/>
              </a:rPr>
              <a:t>2. Evidencias GA2-220501094-AA3-EV02: propuesta técnica y económica para la implementación del proyecto.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5C91B34-A9AF-EE63-68C6-548DAAE8E80E}"/>
              </a:ext>
            </a:extLst>
          </p:cNvPr>
          <p:cNvSpPr txBox="1"/>
          <p:nvPr/>
        </p:nvSpPr>
        <p:spPr>
          <a:xfrm>
            <a:off x="456236" y="2553931"/>
            <a:ext cx="11192425" cy="2267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s-ES" sz="1600" dirty="0">
              <a:latin typeface="Work Sans Light" pitchFamily="2" charset="77"/>
            </a:endParaRP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Work Sans Light" pitchFamily="2" charset="77"/>
              </a:rPr>
              <a:t>Lineamientos generales para la entrega de la evidencia: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>
                <a:latin typeface="Work Sans Light" pitchFamily="2" charset="77"/>
              </a:rPr>
              <a:t>Productos para entregar</a:t>
            </a:r>
            <a:r>
              <a:rPr lang="es-ES" sz="1600" dirty="0">
                <a:latin typeface="Work Sans Light" pitchFamily="2" charset="77"/>
              </a:rPr>
              <a:t>: propuesta técnica</a:t>
            </a:r>
            <a:r>
              <a:rPr lang="es-CO" sz="1600" dirty="0">
                <a:latin typeface="Work Sans Light" pitchFamily="2" charset="77"/>
              </a:rPr>
              <a:t>. </a:t>
            </a:r>
            <a:endParaRPr lang="es-ES" sz="1600" dirty="0">
              <a:latin typeface="Work Sans Light" pitchFamily="2" charset="7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>
                <a:latin typeface="Work Sans Light" pitchFamily="2" charset="77"/>
              </a:rPr>
              <a:t>Formato:</a:t>
            </a:r>
            <a:r>
              <a:rPr lang="es-ES" sz="1600" dirty="0">
                <a:latin typeface="Work Sans Light" pitchFamily="2" charset="77"/>
              </a:rPr>
              <a:t> PDF o Word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>
                <a:latin typeface="Work Sans Light" pitchFamily="2" charset="77"/>
              </a:rPr>
              <a:t>Para hacer el envío de la evidencia </a:t>
            </a:r>
            <a:r>
              <a:rPr lang="es-ES" sz="1600" dirty="0">
                <a:latin typeface="Work Sans Light" pitchFamily="2" charset="77"/>
              </a:rPr>
              <a:t>remítase al área de la actividad correspondiente y acceda al espacio</a:t>
            </a:r>
            <a:r>
              <a:rPr lang="es-ES" sz="1600" b="1" dirty="0">
                <a:latin typeface="Work Sans Light" pitchFamily="2" charset="77"/>
              </a:rPr>
              <a:t> Propuesta técnica y económica para la implementación del proyecto- GA2-220501094-AA3-EV02.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63E98E-BFA0-E9CA-BAEF-127B8DDB8969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47344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22316</TotalTime>
  <Words>440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WORK SANS BOLD ROMAN</vt:lpstr>
      <vt:lpstr>WORK SANS BOLD ROMAN</vt:lpstr>
      <vt:lpstr>Work Sans Light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Tatiana Forero</cp:lastModifiedBy>
  <cp:revision>497</cp:revision>
  <dcterms:created xsi:type="dcterms:W3CDTF">2020-10-01T23:51:28Z</dcterms:created>
  <dcterms:modified xsi:type="dcterms:W3CDTF">2026-03-12T15:20:51Z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