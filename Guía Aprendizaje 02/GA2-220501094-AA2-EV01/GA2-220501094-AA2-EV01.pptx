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621" r:id="rId2"/>
    <p:sldId id="538" r:id="rId3"/>
    <p:sldId id="593" r:id="rId4"/>
    <p:sldId id="623" r:id="rId5"/>
    <p:sldId id="577" r:id="rId6"/>
    <p:sldId id="622" r:id="rId7"/>
    <p:sldId id="620" r:id="rId8"/>
    <p:sldId id="619" r:id="rId9"/>
    <p:sldId id="616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D00"/>
    <a:srgbClr val="FF6C00"/>
    <a:srgbClr val="01AD01"/>
    <a:srgbClr val="00FFFF"/>
    <a:srgbClr val="1F3B50"/>
    <a:srgbClr val="FFF5EA"/>
    <a:srgbClr val="4D4D4C"/>
    <a:srgbClr val="343433"/>
    <a:srgbClr val="38AA00"/>
    <a:srgbClr val="76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61" autoAdjust="0"/>
    <p:restoredTop sz="97242"/>
  </p:normalViewPr>
  <p:slideViewPr>
    <p:cSldViewPr snapToGrid="0">
      <p:cViewPr varScale="1">
        <p:scale>
          <a:sx n="72" d="100"/>
          <a:sy n="72" d="100"/>
        </p:scale>
        <p:origin x="822" y="78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B04F6-DA67-8975-7424-AAACEE8607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378154" y="2343427"/>
            <a:ext cx="5939274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Términos de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Referencia y 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Listas de Chequeo</a:t>
            </a:r>
            <a:endParaRPr lang="es-CO" sz="54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C8F5A-C864-B874-5A57-087650BA4A6E}"/>
              </a:ext>
            </a:extLst>
          </p:cNvPr>
          <p:cNvCxnSpPr/>
          <p:nvPr/>
        </p:nvCxnSpPr>
        <p:spPr>
          <a:xfrm>
            <a:off x="3008244" y="1964635"/>
            <a:ext cx="0" cy="292873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48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3671" y="2171425"/>
            <a:ext cx="97573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GA2-220501094-AA2</a:t>
            </a:r>
            <a:r>
              <a:rPr lang="es-ES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: </a:t>
            </a:r>
            <a:r>
              <a:rPr lang="es-ES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realizar el análisis de proveedores a partir de las fichas técnicas.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DC7DF3-ED90-F4A5-DBB0-C2559B866658}"/>
              </a:ext>
            </a:extLst>
          </p:cNvPr>
          <p:cNvSpPr/>
          <p:nvPr/>
        </p:nvSpPr>
        <p:spPr>
          <a:xfrm>
            <a:off x="10085696" y="887104"/>
            <a:ext cx="1142633" cy="128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84E4B-2A18-5A18-D61A-3477BD3DA2F3}"/>
              </a:ext>
            </a:extLst>
          </p:cNvPr>
          <p:cNvSpPr/>
          <p:nvPr/>
        </p:nvSpPr>
        <p:spPr>
          <a:xfrm>
            <a:off x="916596" y="4784843"/>
            <a:ext cx="4133076" cy="128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Evidencias</a:t>
            </a:r>
            <a:endParaRPr lang="es-CO" sz="36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9A0E59E-A17E-42FD-5E0D-F30AE73B271F}"/>
              </a:ext>
            </a:extLst>
          </p:cNvPr>
          <p:cNvSpPr txBox="1"/>
          <p:nvPr/>
        </p:nvSpPr>
        <p:spPr>
          <a:xfrm>
            <a:off x="456236" y="2771789"/>
            <a:ext cx="11171657" cy="1897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600" b="1" dirty="0">
                <a:latin typeface="Work Sans Light" pitchFamily="2" charset="77"/>
              </a:rPr>
              <a:t>Evidencia GA2-220501094-AA2-EV01: </a:t>
            </a:r>
            <a:r>
              <a:rPr lang="es-ES" sz="1600" dirty="0">
                <a:latin typeface="Work Sans Light" pitchFamily="2" charset="77"/>
              </a:rPr>
              <a:t>ficha técnica de los productos requeridos, los términos de referencia para el contrato y lista de chequeo para evaluación de proveedores.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600" b="1" dirty="0">
                <a:latin typeface="Work Sans Light" pitchFamily="2" charset="77"/>
              </a:rPr>
              <a:t>Material de formación: </a:t>
            </a:r>
            <a:r>
              <a:rPr lang="es-ES" sz="1600" dirty="0">
                <a:latin typeface="Work Sans Light" pitchFamily="2" charset="77"/>
              </a:rPr>
              <a:t>para el desarrollo de esta actividad es importante la lectura y análisis del material de formación</a:t>
            </a:r>
            <a:r>
              <a:rPr lang="es-ES" sz="1600" b="1" dirty="0">
                <a:latin typeface="Work Sans Light" pitchFamily="2" charset="77"/>
              </a:rPr>
              <a:t>: </a:t>
            </a:r>
            <a:r>
              <a:rPr lang="es-CO" sz="1600" b="1" dirty="0">
                <a:latin typeface="Work Sans Light" pitchFamily="2" charset="77"/>
              </a:rPr>
              <a:t>“Propuesta técnica”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85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B04F6-DA67-8975-7424-AAACEE8607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378154" y="2754246"/>
            <a:ext cx="5939274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Términos de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Referencia</a:t>
            </a:r>
            <a:endParaRPr lang="es-CO" sz="54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C8F5A-C864-B874-5A57-087650BA4A6E}"/>
              </a:ext>
            </a:extLst>
          </p:cNvPr>
          <p:cNvCxnSpPr/>
          <p:nvPr/>
        </p:nvCxnSpPr>
        <p:spPr>
          <a:xfrm>
            <a:off x="3008244" y="1964635"/>
            <a:ext cx="0" cy="292873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21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315715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CO" sz="2400" b="1" dirty="0">
                <a:solidFill>
                  <a:schemeClr val="bg1"/>
                </a:solidFill>
                <a:latin typeface="Work Sans Light" pitchFamily="2" charset="77"/>
              </a:rPr>
              <a:t>Términos de referencia (TdR)</a:t>
            </a:r>
            <a:endParaRPr lang="es-ES" sz="24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3E98E-BFA0-E9CA-BAEF-127B8DDB8969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B3987-407E-CCA5-F4F7-3DFED33841D7}"/>
              </a:ext>
            </a:extLst>
          </p:cNvPr>
          <p:cNvSpPr txBox="1"/>
          <p:nvPr/>
        </p:nvSpPr>
        <p:spPr>
          <a:xfrm>
            <a:off x="1434352" y="1785584"/>
            <a:ext cx="2574285" cy="147732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  <a:latin typeface="Google Sans"/>
              </a:rPr>
              <a:t>¿Qué s</a:t>
            </a:r>
            <a:r>
              <a:rPr lang="es-ES" sz="2000" b="0" i="0" dirty="0">
                <a:solidFill>
                  <a:schemeClr val="bg1"/>
                </a:solidFill>
                <a:effectLst/>
                <a:latin typeface="Google Sans"/>
              </a:rPr>
              <a:t>on?</a:t>
            </a:r>
          </a:p>
          <a:p>
            <a:r>
              <a:rPr lang="es-ES" sz="1400" dirty="0">
                <a:solidFill>
                  <a:schemeClr val="bg1"/>
                </a:solidFill>
                <a:latin typeface="Google Sans"/>
              </a:rPr>
              <a:t>D</a:t>
            </a:r>
            <a:r>
              <a:rPr lang="es-ES" sz="1400" dirty="0">
                <a:solidFill>
                  <a:schemeClr val="bg1"/>
                </a:solidFill>
              </a:rPr>
              <a:t>ocumento que define las especificaciones técnicas, objetivos, alcance y condiciones de un proyecto, servicio o estudio.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B7863-A20F-FB2C-7CEC-1A564F2B4059}"/>
              </a:ext>
            </a:extLst>
          </p:cNvPr>
          <p:cNvSpPr txBox="1"/>
          <p:nvPr/>
        </p:nvSpPr>
        <p:spPr>
          <a:xfrm>
            <a:off x="1434352" y="4945715"/>
            <a:ext cx="2574285" cy="147732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s-ES" sz="2000" b="0" i="0" dirty="0">
                <a:solidFill>
                  <a:schemeClr val="bg1"/>
                </a:solidFill>
                <a:effectLst/>
                <a:latin typeface="Google Sans"/>
              </a:rPr>
              <a:t>¿Cómo?</a:t>
            </a:r>
          </a:p>
          <a:p>
            <a:r>
              <a:rPr lang="es-ES" sz="1400" dirty="0">
                <a:solidFill>
                  <a:schemeClr val="bg1"/>
                </a:solidFill>
                <a:latin typeface="Google Sans"/>
              </a:rPr>
              <a:t>E</a:t>
            </a:r>
            <a:r>
              <a:rPr lang="es-ES" sz="1400" b="0" i="0" dirty="0">
                <a:solidFill>
                  <a:schemeClr val="bg1"/>
                </a:solidFill>
                <a:effectLst/>
                <a:latin typeface="Google Sans"/>
              </a:rPr>
              <a:t>stablecen un marco claro para todos los involucrados, incluyendo la metodología de trabajo, los entregables, los plazos y el presupuesto.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F17CD-370C-DFB2-9E8C-A798553CCA45}"/>
              </a:ext>
            </a:extLst>
          </p:cNvPr>
          <p:cNvSpPr txBox="1"/>
          <p:nvPr/>
        </p:nvSpPr>
        <p:spPr>
          <a:xfrm>
            <a:off x="1434352" y="3595088"/>
            <a:ext cx="2574285" cy="104644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¿Para qué?</a:t>
            </a:r>
          </a:p>
          <a:p>
            <a:r>
              <a:rPr lang="es-ES" sz="1400" dirty="0">
                <a:solidFill>
                  <a:schemeClr val="bg1"/>
                </a:solidFill>
              </a:rPr>
              <a:t>Guiar la ejecución y asegurar el cumplimiento de los resultados esperados.</a:t>
            </a:r>
            <a:endParaRPr lang="es-CO" sz="16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4B9811-C194-AFEF-908B-4B957759DE5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2721495" y="3262912"/>
            <a:ext cx="0" cy="332176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F0C34B3-9A4C-9A97-E635-2A8F27144B0D}"/>
              </a:ext>
            </a:extLst>
          </p:cNvPr>
          <p:cNvSpPr txBox="1"/>
          <p:nvPr/>
        </p:nvSpPr>
        <p:spPr>
          <a:xfrm>
            <a:off x="6832220" y="3803134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Información disponible para el contratista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86CC8-8765-D595-1C12-466AA981BFB1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2721495" y="4641528"/>
            <a:ext cx="0" cy="30418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9A04B8A-B73D-4FA1-BCE7-2BB0FCBB5416}"/>
              </a:ext>
            </a:extLst>
          </p:cNvPr>
          <p:cNvSpPr txBox="1"/>
          <p:nvPr/>
        </p:nvSpPr>
        <p:spPr>
          <a:xfrm>
            <a:off x="6832222" y="3347691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Metodología de trabajo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23003C-D6A9-DDAF-BC80-2B092EB8B08C}"/>
              </a:ext>
            </a:extLst>
          </p:cNvPr>
          <p:cNvSpPr txBox="1"/>
          <p:nvPr/>
        </p:nvSpPr>
        <p:spPr>
          <a:xfrm>
            <a:off x="6832222" y="2892248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Justificación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EFE147-EE86-7CBD-6AC2-C48F07FED0D9}"/>
              </a:ext>
            </a:extLst>
          </p:cNvPr>
          <p:cNvSpPr txBox="1"/>
          <p:nvPr/>
        </p:nvSpPr>
        <p:spPr>
          <a:xfrm>
            <a:off x="6832222" y="2436805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Alcance del trabajo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7DB8FF-E867-206D-A816-D974DF4930FF}"/>
              </a:ext>
            </a:extLst>
          </p:cNvPr>
          <p:cNvSpPr txBox="1"/>
          <p:nvPr/>
        </p:nvSpPr>
        <p:spPr>
          <a:xfrm>
            <a:off x="6832222" y="1981362"/>
            <a:ext cx="4317999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Objetivos generales y específicos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BE9411-DBA6-9914-0C82-61942809BB2F}"/>
              </a:ext>
            </a:extLst>
          </p:cNvPr>
          <p:cNvSpPr txBox="1"/>
          <p:nvPr/>
        </p:nvSpPr>
        <p:spPr>
          <a:xfrm>
            <a:off x="6832222" y="1525919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Antecedentes del proyecto o servicio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282418-CE35-EBD5-117D-F99B350AD631}"/>
              </a:ext>
            </a:extLst>
          </p:cNvPr>
          <p:cNvSpPr txBox="1"/>
          <p:nvPr/>
        </p:nvSpPr>
        <p:spPr>
          <a:xfrm rot="16200000">
            <a:off x="4020573" y="3741579"/>
            <a:ext cx="4892985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2400" b="0" i="0" dirty="0">
                <a:solidFill>
                  <a:schemeClr val="bg1"/>
                </a:solidFill>
                <a:effectLst/>
                <a:latin typeface="Google Sans"/>
              </a:rPr>
              <a:t>Componentes comunes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3B8BF0-E49C-9911-8AFE-8915AC72AE34}"/>
              </a:ext>
            </a:extLst>
          </p:cNvPr>
          <p:cNvSpPr txBox="1"/>
          <p:nvPr/>
        </p:nvSpPr>
        <p:spPr>
          <a:xfrm>
            <a:off x="6832222" y="6080350"/>
            <a:ext cx="4317664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Condiciones generales.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EE5A0C-4DF2-6A46-0388-11D6565955BC}"/>
              </a:ext>
            </a:extLst>
          </p:cNvPr>
          <p:cNvSpPr txBox="1"/>
          <p:nvPr/>
        </p:nvSpPr>
        <p:spPr>
          <a:xfrm>
            <a:off x="6832222" y="5169463"/>
            <a:ext cx="4317664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Presupuesto referencial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8B8775-D995-C689-DC99-1280F4B08A97}"/>
              </a:ext>
            </a:extLst>
          </p:cNvPr>
          <p:cNvSpPr txBox="1"/>
          <p:nvPr/>
        </p:nvSpPr>
        <p:spPr>
          <a:xfrm>
            <a:off x="6832223" y="4714020"/>
            <a:ext cx="4317664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Plazo de ejecución y entregables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D2BD14-15E7-5049-77A7-5EA396BA9E34}"/>
              </a:ext>
            </a:extLst>
          </p:cNvPr>
          <p:cNvSpPr txBox="1"/>
          <p:nvPr/>
        </p:nvSpPr>
        <p:spPr>
          <a:xfrm>
            <a:off x="6832223" y="4258577"/>
            <a:ext cx="4317664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Productos, bienes o servicios esperados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115A40-5775-C5B1-DFC4-1619DEFC685A}"/>
              </a:ext>
            </a:extLst>
          </p:cNvPr>
          <p:cNvSpPr txBox="1"/>
          <p:nvPr/>
        </p:nvSpPr>
        <p:spPr>
          <a:xfrm>
            <a:off x="6832222" y="5624906"/>
            <a:ext cx="4317664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Forma o criterios de pago</a:t>
            </a:r>
          </a:p>
        </p:txBody>
      </p:sp>
    </p:spTree>
    <p:extLst>
      <p:ext uri="{BB962C8B-B14F-4D97-AF65-F5344CB8AC3E}">
        <p14:creationId xmlns:p14="http://schemas.microsoft.com/office/powerpoint/2010/main" val="254365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0B04F6-DA67-8975-7424-AAACEE8607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3CE7-1EA9-6913-C780-749EDBCA9CF2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378154" y="2343427"/>
            <a:ext cx="5939274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5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Listas de Chequeo para evaluar Proveedores</a:t>
            </a:r>
            <a:endParaRPr lang="es-CO" sz="54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C8F5A-C864-B874-5A57-087650BA4A6E}"/>
              </a:ext>
            </a:extLst>
          </p:cNvPr>
          <p:cNvCxnSpPr/>
          <p:nvPr/>
        </p:nvCxnSpPr>
        <p:spPr>
          <a:xfrm>
            <a:off x="3008244" y="1964635"/>
            <a:ext cx="0" cy="292873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55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315715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CO" sz="2400" b="1" dirty="0">
                <a:solidFill>
                  <a:schemeClr val="bg1"/>
                </a:solidFill>
                <a:latin typeface="Work Sans Light" pitchFamily="2" charset="77"/>
              </a:rPr>
              <a:t>Lista de chequeo para evaluar proveedores</a:t>
            </a:r>
            <a:endParaRPr lang="es-ES" sz="24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3E98E-BFA0-E9CA-BAEF-127B8DDB8969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B3987-407E-CCA5-F4F7-3DFED33841D7}"/>
              </a:ext>
            </a:extLst>
          </p:cNvPr>
          <p:cNvSpPr txBox="1"/>
          <p:nvPr/>
        </p:nvSpPr>
        <p:spPr>
          <a:xfrm>
            <a:off x="1434352" y="1454284"/>
            <a:ext cx="2991874" cy="14773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  <a:latin typeface="Google Sans"/>
              </a:rPr>
              <a:t>¿Qué s</a:t>
            </a:r>
            <a:r>
              <a:rPr lang="es-ES" sz="2000" b="0" i="0" dirty="0">
                <a:solidFill>
                  <a:schemeClr val="bg1"/>
                </a:solidFill>
                <a:effectLst/>
                <a:latin typeface="Google Sans"/>
              </a:rPr>
              <a:t>on?</a:t>
            </a:r>
          </a:p>
          <a:p>
            <a:r>
              <a:rPr lang="es-ES" sz="1400" dirty="0">
                <a:solidFill>
                  <a:schemeClr val="bg1"/>
                </a:solidFill>
              </a:rPr>
              <a:t>Son formularios o tablas que ayudan a las empresas a asegurarse de que sus proveedores </a:t>
            </a:r>
            <a:r>
              <a:rPr lang="es-ES" sz="1400" b="1" dirty="0">
                <a:solidFill>
                  <a:schemeClr val="bg1"/>
                </a:solidFill>
              </a:rPr>
              <a:t>cumplen con los estándares de calidad, precio, entrega y servicio </a:t>
            </a:r>
            <a:r>
              <a:rPr lang="es-ES" sz="1400" dirty="0">
                <a:solidFill>
                  <a:schemeClr val="bg1"/>
                </a:solidFill>
              </a:rPr>
              <a:t>esperados.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B7863-A20F-FB2C-7CEC-1A564F2B4059}"/>
              </a:ext>
            </a:extLst>
          </p:cNvPr>
          <p:cNvSpPr txBox="1"/>
          <p:nvPr/>
        </p:nvSpPr>
        <p:spPr>
          <a:xfrm>
            <a:off x="1434352" y="5184251"/>
            <a:ext cx="2991874" cy="14773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2000" b="0" i="0" dirty="0">
                <a:solidFill>
                  <a:schemeClr val="bg1"/>
                </a:solidFill>
                <a:effectLst/>
                <a:latin typeface="Google Sans"/>
              </a:rPr>
              <a:t>¿Cómo?</a:t>
            </a:r>
          </a:p>
          <a:p>
            <a:r>
              <a:rPr lang="es-ES" sz="1400" dirty="0">
                <a:solidFill>
                  <a:schemeClr val="bg1"/>
                </a:solidFill>
                <a:latin typeface="Google Sans"/>
              </a:rPr>
              <a:t>Se aplican antes de contratar un proveedor (evaluación inicial).</a:t>
            </a:r>
          </a:p>
          <a:p>
            <a:endParaRPr lang="es-ES" sz="1400" dirty="0">
              <a:solidFill>
                <a:schemeClr val="bg1"/>
              </a:solidFill>
              <a:latin typeface="Google Sans"/>
            </a:endParaRPr>
          </a:p>
          <a:p>
            <a:r>
              <a:rPr lang="es-ES" sz="1400" dirty="0">
                <a:solidFill>
                  <a:schemeClr val="bg1"/>
                </a:solidFill>
                <a:latin typeface="Google Sans"/>
              </a:rPr>
              <a:t>O durante la relación comercial, para medir el desempeño periódico</a:t>
            </a:r>
            <a:r>
              <a:rPr lang="es-ES" sz="1400" b="0" i="0" dirty="0">
                <a:solidFill>
                  <a:schemeClr val="bg1"/>
                </a:solidFill>
                <a:effectLst/>
                <a:latin typeface="Google Sans"/>
              </a:rPr>
              <a:t>.</a:t>
            </a:r>
            <a:endParaRPr lang="es-CO" sz="1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F17CD-370C-DFB2-9E8C-A798553CCA45}"/>
              </a:ext>
            </a:extLst>
          </p:cNvPr>
          <p:cNvSpPr txBox="1"/>
          <p:nvPr/>
        </p:nvSpPr>
        <p:spPr>
          <a:xfrm>
            <a:off x="1434352" y="3343294"/>
            <a:ext cx="2991874" cy="147732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¿Para qué?</a:t>
            </a:r>
          </a:p>
          <a:p>
            <a:r>
              <a:rPr lang="es-ES" sz="1400" dirty="0">
                <a:solidFill>
                  <a:schemeClr val="bg1"/>
                </a:solidFill>
              </a:rPr>
              <a:t>Se utilizan para </a:t>
            </a:r>
            <a:r>
              <a:rPr lang="es-ES" sz="1400" b="1" dirty="0">
                <a:solidFill>
                  <a:schemeClr val="bg1"/>
                </a:solidFill>
              </a:rPr>
              <a:t>revisar, medir y comparar</a:t>
            </a:r>
            <a:r>
              <a:rPr lang="es-ES" sz="1400" dirty="0">
                <a:solidFill>
                  <a:schemeClr val="bg1"/>
                </a:solidFill>
              </a:rPr>
              <a:t> el desempeño, la capacidad y la confiabilidad de los proveedores, basándose en criterios previamente definidos.</a:t>
            </a:r>
            <a:endParaRPr lang="es-CO" sz="16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4B9811-C194-AFEF-908B-4B957759DE5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2930289" y="2931612"/>
            <a:ext cx="0" cy="411682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F0C34B3-9A4C-9A97-E635-2A8F27144B0D}"/>
              </a:ext>
            </a:extLst>
          </p:cNvPr>
          <p:cNvSpPr txBox="1"/>
          <p:nvPr/>
        </p:nvSpPr>
        <p:spPr>
          <a:xfrm>
            <a:off x="6832220" y="4505499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Verificación de referencias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86CC8-8765-D595-1C12-466AA981BFB1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2930289" y="4820622"/>
            <a:ext cx="0" cy="363629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9A04B8A-B73D-4FA1-BCE7-2BB0FCBB5416}"/>
              </a:ext>
            </a:extLst>
          </p:cNvPr>
          <p:cNvSpPr txBox="1"/>
          <p:nvPr/>
        </p:nvSpPr>
        <p:spPr>
          <a:xfrm>
            <a:off x="6832222" y="4050056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Análisis cualitativo y recomendaciones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23003C-D6A9-DDAF-BC80-2B092EB8B08C}"/>
              </a:ext>
            </a:extLst>
          </p:cNvPr>
          <p:cNvSpPr txBox="1"/>
          <p:nvPr/>
        </p:nvSpPr>
        <p:spPr>
          <a:xfrm>
            <a:off x="6832222" y="3594613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Resumen de evaluación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EFE147-EE86-7CBD-6AC2-C48F07FED0D9}"/>
              </a:ext>
            </a:extLst>
          </p:cNvPr>
          <p:cNvSpPr txBox="1"/>
          <p:nvPr/>
        </p:nvSpPr>
        <p:spPr>
          <a:xfrm>
            <a:off x="6832222" y="3139170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Criterios de evaluación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7DB8FF-E867-206D-A816-D974DF4930FF}"/>
              </a:ext>
            </a:extLst>
          </p:cNvPr>
          <p:cNvSpPr txBox="1"/>
          <p:nvPr/>
        </p:nvSpPr>
        <p:spPr>
          <a:xfrm>
            <a:off x="6832222" y="2683727"/>
            <a:ext cx="4317999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Instrucciones de uso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BE9411-DBA6-9914-0C82-61942809BB2F}"/>
              </a:ext>
            </a:extLst>
          </p:cNvPr>
          <p:cNvSpPr txBox="1"/>
          <p:nvPr/>
        </p:nvSpPr>
        <p:spPr>
          <a:xfrm>
            <a:off x="6832222" y="2228284"/>
            <a:ext cx="4317667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Información del proveedor evaluado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282418-CE35-EBD5-117D-F99B350AD631}"/>
              </a:ext>
            </a:extLst>
          </p:cNvPr>
          <p:cNvSpPr txBox="1"/>
          <p:nvPr/>
        </p:nvSpPr>
        <p:spPr>
          <a:xfrm rot="16200000">
            <a:off x="4703739" y="3760778"/>
            <a:ext cx="3526656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2400" b="0" i="0" dirty="0">
                <a:solidFill>
                  <a:schemeClr val="bg1"/>
                </a:solidFill>
                <a:effectLst/>
                <a:latin typeface="Google Sans"/>
              </a:rPr>
              <a:t>Componentes comunes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8B8775-D995-C689-DC99-1280F4B08A97}"/>
              </a:ext>
            </a:extLst>
          </p:cNvPr>
          <p:cNvSpPr txBox="1"/>
          <p:nvPr/>
        </p:nvSpPr>
        <p:spPr>
          <a:xfrm>
            <a:off x="6832223" y="5416385"/>
            <a:ext cx="4317664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Firmas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D2BD14-15E7-5049-77A7-5EA396BA9E34}"/>
              </a:ext>
            </a:extLst>
          </p:cNvPr>
          <p:cNvSpPr txBox="1"/>
          <p:nvPr/>
        </p:nvSpPr>
        <p:spPr>
          <a:xfrm>
            <a:off x="6832223" y="4960942"/>
            <a:ext cx="4317664" cy="33855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0" i="0" dirty="0">
                <a:solidFill>
                  <a:schemeClr val="bg1"/>
                </a:solidFill>
                <a:effectLst/>
                <a:latin typeface="Google Sans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294879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300758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Evidencia GA2-220501094-AA2-EV01: ficha técnica de los productos requeridos, los términos de referencia para el contrato y lista de chequeo para evaluación de proveedores.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C91B34-A9AF-EE63-68C6-548DAAE8E80E}"/>
              </a:ext>
            </a:extLst>
          </p:cNvPr>
          <p:cNvSpPr txBox="1"/>
          <p:nvPr/>
        </p:nvSpPr>
        <p:spPr>
          <a:xfrm>
            <a:off x="353581" y="1719043"/>
            <a:ext cx="11192425" cy="4852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La ficha técnica es un documento que contiene la descripción, características y funciones de un determinado producto; se podría afirmar que es el insumo inicial del cual se parte el desarrollo. 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Por lo anterior y teniendo en cuenta los términos de referencia establecidos en el componente formativo sobre la propuesta técnica, elabore la ficha técnica basado en los siguientes conceptos: 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Descripciones.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Características.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Funciones.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El formato debe ser de manera horizontal. 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Se pueden utilizar tablas de Word o Excel</a:t>
            </a:r>
          </a:p>
          <a:p>
            <a:pPr algn="just">
              <a:lnSpc>
                <a:spcPct val="150000"/>
              </a:lnSpc>
            </a:pPr>
            <a:r>
              <a:rPr lang="es-ES" sz="1600" dirty="0">
                <a:latin typeface="Work Sans Light" pitchFamily="2" charset="77"/>
              </a:rPr>
              <a:t>✔ Se debe enriquecer con un diseño o logo, como si fuera la papelería de una empresa real. 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Work Sans Ligh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3E98E-BFA0-E9CA-BAEF-127B8DDB8969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907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5C91B34-A9AF-EE63-68C6-548DAAE8E80E}"/>
              </a:ext>
            </a:extLst>
          </p:cNvPr>
          <p:cNvSpPr txBox="1"/>
          <p:nvPr/>
        </p:nvSpPr>
        <p:spPr>
          <a:xfrm>
            <a:off x="456236" y="2526336"/>
            <a:ext cx="11192425" cy="2615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b="1" dirty="0">
                <a:latin typeface="Work Sans Light" pitchFamily="2" charset="77"/>
              </a:rPr>
              <a:t>Lineamientos generales para la entrega de la evidencia: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Productos para entregar</a:t>
            </a:r>
            <a:r>
              <a:rPr lang="es-ES" sz="1600" dirty="0">
                <a:latin typeface="Work Sans Light" pitchFamily="2" charset="77"/>
              </a:rPr>
              <a:t>: </a:t>
            </a:r>
            <a:r>
              <a:rPr lang="es-CO" sz="1600" dirty="0">
                <a:latin typeface="Work Sans Light" pitchFamily="2" charset="77"/>
              </a:rPr>
              <a:t>ficha técnica. </a:t>
            </a:r>
            <a:endParaRPr lang="es-ES" sz="1600" dirty="0">
              <a:latin typeface="Work Sans Light" pitchFamily="2" charset="7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Formato:</a:t>
            </a:r>
            <a:r>
              <a:rPr lang="es-ES" sz="1600" dirty="0">
                <a:latin typeface="Work Sans Light" pitchFamily="2" charset="77"/>
              </a:rPr>
              <a:t> Word o Excel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latin typeface="Work Sans Light" pitchFamily="2" charset="77"/>
              </a:rPr>
              <a:t>Para hacer el envío de la evidencia </a:t>
            </a:r>
            <a:r>
              <a:rPr lang="es-ES" sz="1600" dirty="0">
                <a:latin typeface="Work Sans Light" pitchFamily="2" charset="77"/>
              </a:rPr>
              <a:t>remítase al área de la actividad correspondiente y acceda al espacio</a:t>
            </a:r>
            <a:r>
              <a:rPr lang="es-ES" sz="1600" b="1" dirty="0">
                <a:latin typeface="Work Sans Light" pitchFamily="2" charset="77"/>
              </a:rPr>
              <a:t> Ficha técnica de los productos requeridos, los términos de referencia para el contrato y lista de chequeo para evaluación de proveedores. GA2-220501094-AA2-EV01.</a:t>
            </a:r>
          </a:p>
          <a:p>
            <a:pPr algn="just">
              <a:lnSpc>
                <a:spcPct val="150000"/>
              </a:lnSpc>
            </a:pPr>
            <a:endParaRPr lang="es-ES" sz="1500" b="1" dirty="0">
              <a:latin typeface="Work Sans Light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3E98E-BFA0-E9CA-BAEF-127B8DDB8969}"/>
              </a:ext>
            </a:extLst>
          </p:cNvPr>
          <p:cNvSpPr/>
          <p:nvPr/>
        </p:nvSpPr>
        <p:spPr>
          <a:xfrm>
            <a:off x="11150221" y="286603"/>
            <a:ext cx="791570" cy="764276"/>
          </a:xfrm>
          <a:prstGeom prst="rect">
            <a:avLst/>
          </a:prstGeom>
          <a:solidFill>
            <a:srgbClr val="01A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24DAE29-48D4-049E-A8D2-4CBBB6E0BD36}"/>
              </a:ext>
            </a:extLst>
          </p:cNvPr>
          <p:cNvSpPr txBox="1">
            <a:spLocks/>
          </p:cNvSpPr>
          <p:nvPr/>
        </p:nvSpPr>
        <p:spPr>
          <a:xfrm>
            <a:off x="456236" y="300758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Evidencia GA2-220501094-AA2-EV01: ficha técnica de los productos requeridos, los términos de referencia para el contrato y lista de chequeo para evaluación de proveedores.</a:t>
            </a:r>
          </a:p>
        </p:txBody>
      </p:sp>
    </p:spTree>
    <p:extLst>
      <p:ext uri="{BB962C8B-B14F-4D97-AF65-F5344CB8AC3E}">
        <p14:creationId xmlns:p14="http://schemas.microsoft.com/office/powerpoint/2010/main" val="13714094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22030</TotalTime>
  <Words>546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Google Sans</vt:lpstr>
      <vt:lpstr>Work Sans Bold Roman</vt:lpstr>
      <vt:lpstr>Work Sans Bold Roman</vt:lpstr>
      <vt:lpstr>Work Sans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Tatiana Forero</cp:lastModifiedBy>
  <cp:revision>493</cp:revision>
  <dcterms:created xsi:type="dcterms:W3CDTF">2020-10-01T23:51:28Z</dcterms:created>
  <dcterms:modified xsi:type="dcterms:W3CDTF">2025-11-04T11:37:12Z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